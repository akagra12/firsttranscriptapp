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8"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E0C74-DF3E-3DDD-EA98-764731FAFA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1E791C-E901-511A-1F6D-8F6CD6ADC4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510A23-A658-4D2C-D7D3-C259ADAF0337}"/>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7BFC3696-E8DB-2190-1E32-C494E2C375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1C1446-C56A-62B0-15EB-045827E57D58}"/>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2889308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E0EE7-D7CA-7D30-4DC7-1B9A516AB0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751870-B6E7-7EE3-29AC-77DF0B8661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F2A896-DD65-37EA-B668-6014687F37BE}"/>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66FF2108-6E42-0E3F-C793-DEDB489ED7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FBA782-8A7C-596E-0DC9-D1751D1332C6}"/>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2172587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A701B-E366-56AF-4BC1-6E24746339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4F6126B-E5E4-F293-E15C-3DAE3B4BFA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76CCA-AEC0-84C8-2CB3-AF0AB4067B82}"/>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D8A4F2C8-B599-7ED0-2BC0-457D619120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198DC2-5C1C-7983-5A0B-B9AE65EFD3FC}"/>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3564014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54E79-0B67-287D-6B1C-153103F510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F3CDEC-C674-CC6A-6308-F4EA83A563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8D09FE-23AC-3B06-3AC7-44FC823393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C849E9-3067-E82F-83AB-CB5ABD4665AF}"/>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6" name="Footer Placeholder 5">
            <a:extLst>
              <a:ext uri="{FF2B5EF4-FFF2-40B4-BE49-F238E27FC236}">
                <a16:creationId xmlns:a16="http://schemas.microsoft.com/office/drawing/2014/main" id="{30480285-6B36-FD34-1C8E-6A314E18F7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F23A28-23D1-1A71-C0C0-4BDA463654D9}"/>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2255766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C99D2-4F2E-1711-2241-7BE6A6796E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B38A9A-EF64-C97D-94C2-8BFFFE0FF2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44F8E7-E3E0-9621-2A39-7EBFCF52FA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A7D6C20-7F9C-56C3-AE28-7954606EA7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6BB00D-9884-1F94-A220-199B9646F9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0F82C45-B5B0-E6FE-1A95-EC2C6665827D}"/>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8" name="Footer Placeholder 7">
            <a:extLst>
              <a:ext uri="{FF2B5EF4-FFF2-40B4-BE49-F238E27FC236}">
                <a16:creationId xmlns:a16="http://schemas.microsoft.com/office/drawing/2014/main" id="{60891164-EEA0-047B-E634-EC1C94B80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D576F93-5FD8-E1E5-8092-242BB4ED1CB5}"/>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2183515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FF995-887F-527F-7707-72C2584EE02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1550D37-D7F1-2F16-DE6B-2F5EC24F2261}"/>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4" name="Footer Placeholder 3">
            <a:extLst>
              <a:ext uri="{FF2B5EF4-FFF2-40B4-BE49-F238E27FC236}">
                <a16:creationId xmlns:a16="http://schemas.microsoft.com/office/drawing/2014/main" id="{53A0826A-40BD-57E9-349B-903DE586561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FBAF143-373E-4699-3A57-DC3C69098A1A}"/>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3112348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885D74-F8C1-9165-F55B-A5C5476FBF41}"/>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3" name="Footer Placeholder 2">
            <a:extLst>
              <a:ext uri="{FF2B5EF4-FFF2-40B4-BE49-F238E27FC236}">
                <a16:creationId xmlns:a16="http://schemas.microsoft.com/office/drawing/2014/main" id="{24E8C7DC-87DD-C248-4BF8-3D9AC5729FD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075CE55-8711-0241-FDBA-43727D6CECF6}"/>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3371804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FF235-E081-208D-0CEC-57EF59C290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DE3DF59-2FFD-624D-C1B7-03A2C666E8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32A798-0DFB-CD5C-DD6F-F7DE6341B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CD4736-EB73-72C9-E31C-806BE57EA8ED}"/>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6" name="Footer Placeholder 5">
            <a:extLst>
              <a:ext uri="{FF2B5EF4-FFF2-40B4-BE49-F238E27FC236}">
                <a16:creationId xmlns:a16="http://schemas.microsoft.com/office/drawing/2014/main" id="{B4E99FA0-4368-B975-3B24-6205FB3B3C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FC1EEF-0BB3-8E4A-8EAB-9212E3535576}"/>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1146990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191D4-E08D-97E8-92AC-9916AACA82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1C5BF2-4696-9053-8B1D-929DB9AA18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F55ADB-5E9F-0CD9-49CA-4EE45AC95E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22C835-D6A0-B583-2FC3-0DBB917C83CA}"/>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6" name="Footer Placeholder 5">
            <a:extLst>
              <a:ext uri="{FF2B5EF4-FFF2-40B4-BE49-F238E27FC236}">
                <a16:creationId xmlns:a16="http://schemas.microsoft.com/office/drawing/2014/main" id="{9BDAE200-E9BA-9075-44A4-3DE829FCE1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00CB9A-9444-8A99-F39F-4F8FE50D6AB3}"/>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129362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818F0-2DA7-9E5F-93A5-B1BC285259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676414-1D1D-999C-2D5E-8EA75C09CA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82AE43-B7FB-A0AB-6205-640B6A4E46F9}"/>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42A0EBEA-4201-F1CF-63F0-AB279EA2D5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5701F5-E4DE-B66C-A432-405D0A8E133B}"/>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667416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583770-3BD9-2E86-EFD7-85397E7293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C130A3-C8CC-62CE-1633-E91DE781B2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61A602-8350-EC3B-F0BC-73C93ADA7829}"/>
              </a:ext>
            </a:extLst>
          </p:cNvPr>
          <p:cNvSpPr>
            <a:spLocks noGrp="1"/>
          </p:cNvSpPr>
          <p:nvPr>
            <p:ph type="dt" sz="half" idx="10"/>
          </p:nvPr>
        </p:nvSpPr>
        <p:spPr/>
        <p:txBody>
          <a:body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6468DD28-DC01-6D93-DD00-473A1B75EA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D77CC7-9D54-C92A-AFB9-782B9926CFB3}"/>
              </a:ext>
            </a:extLst>
          </p:cNvPr>
          <p:cNvSpPr>
            <a:spLocks noGrp="1"/>
          </p:cNvSpPr>
          <p:nvPr>
            <p:ph type="sldNum" sz="quarter" idx="12"/>
          </p:nvPr>
        </p:nvSpPr>
        <p:spPr/>
        <p:txBody>
          <a:bodyPr/>
          <a:lstStyle/>
          <a:p>
            <a:fld id="{F33B52B2-7CFF-4FC6-991C-6306DFCC17D8}" type="slidenum">
              <a:rPr lang="en-IN" smtClean="0"/>
              <a:t>‹#›</a:t>
            </a:fld>
            <a:endParaRPr lang="en-IN"/>
          </a:p>
        </p:txBody>
      </p:sp>
    </p:spTree>
    <p:extLst>
      <p:ext uri="{BB962C8B-B14F-4D97-AF65-F5344CB8AC3E}">
        <p14:creationId xmlns:p14="http://schemas.microsoft.com/office/powerpoint/2010/main" val="2002610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4AECEE-4A7B-D8F9-323A-F5F3D5D5B4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DB59F6-ABCD-0F8D-5F6D-EB99B23743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57BA25-6BEF-78B1-9E1D-5174B9D3D1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97C9E4-AC1E-4BC3-8A99-EF02812DACCF}" type="datetimeFigureOut">
              <a:rPr lang="en-IN" smtClean="0"/>
              <a:t>21-04-2026</a:t>
            </a:fld>
            <a:endParaRPr lang="en-IN"/>
          </a:p>
        </p:txBody>
      </p:sp>
      <p:sp>
        <p:nvSpPr>
          <p:cNvPr id="5" name="Footer Placeholder 4">
            <a:extLst>
              <a:ext uri="{FF2B5EF4-FFF2-40B4-BE49-F238E27FC236}">
                <a16:creationId xmlns:a16="http://schemas.microsoft.com/office/drawing/2014/main" id="{378CAE06-BE90-7F10-2980-8B6BF15A9C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D2AA206-AC23-83D4-8E92-8A01C71C6E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3B52B2-7CFF-4FC6-991C-6306DFCC17D8}" type="slidenum">
              <a:rPr lang="en-IN" smtClean="0"/>
              <a:t>‹#›</a:t>
            </a:fld>
            <a:endParaRPr lang="en-IN"/>
          </a:p>
        </p:txBody>
      </p:sp>
    </p:spTree>
    <p:extLst>
      <p:ext uri="{BB962C8B-B14F-4D97-AF65-F5344CB8AC3E}">
        <p14:creationId xmlns:p14="http://schemas.microsoft.com/office/powerpoint/2010/main" val="3846932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i.meta.com/llama" TargetMode="External"/><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github.com/Akagra12/FirstTranscriptapp" TargetMode="External"/><Relationship Id="rId4" Type="http://schemas.openxmlformats.org/officeDocument/2006/relationships/hyperlink" Target="https://meetingai-2bqy.onrender.co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8" name="Group 17">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7467600" cy="6858000"/>
            <a:chOff x="7467600" y="0"/>
            <a:chExt cx="4724400" cy="6858000"/>
          </a:xfrm>
        </p:grpSpPr>
        <p:sp>
          <p:nvSpPr>
            <p:cNvPr id="19" name="Rectangle 18">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2" name="Freeform: Shape 21">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69701"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4" name="Rectangle 23">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990600"/>
            <a:ext cx="112776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 name="TextBox 7">
            <a:extLst>
              <a:ext uri="{FF2B5EF4-FFF2-40B4-BE49-F238E27FC236}">
                <a16:creationId xmlns:a16="http://schemas.microsoft.com/office/drawing/2014/main" id="{7DBED1A8-61CA-3337-A8C1-C8126A48BB75}"/>
              </a:ext>
            </a:extLst>
          </p:cNvPr>
          <p:cNvSpPr txBox="1"/>
          <p:nvPr/>
        </p:nvSpPr>
        <p:spPr>
          <a:xfrm>
            <a:off x="1143000" y="1676400"/>
            <a:ext cx="3810000" cy="350520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000" b="1" kern="1200" dirty="0" err="1">
                <a:solidFill>
                  <a:schemeClr val="tx1"/>
                </a:solidFill>
                <a:latin typeface="+mj-lt"/>
                <a:ea typeface="+mj-ea"/>
                <a:cs typeface="+mj-cs"/>
              </a:rPr>
              <a:t>MeetMind</a:t>
            </a:r>
            <a:r>
              <a:rPr lang="en-US" sz="4000" b="1" kern="1200" dirty="0">
                <a:solidFill>
                  <a:schemeClr val="tx1"/>
                </a:solidFill>
                <a:latin typeface="+mj-lt"/>
                <a:ea typeface="+mj-ea"/>
                <a:cs typeface="+mj-cs"/>
              </a:rPr>
              <a:t> AI</a:t>
            </a:r>
            <a:endParaRPr lang="en-US" sz="4000" kern="1200" dirty="0">
              <a:solidFill>
                <a:schemeClr val="tx1"/>
              </a:solidFill>
              <a:latin typeface="+mj-lt"/>
              <a:ea typeface="+mj-ea"/>
              <a:cs typeface="+mj-cs"/>
            </a:endParaRPr>
          </a:p>
          <a:p>
            <a:pPr>
              <a:lnSpc>
                <a:spcPct val="90000"/>
              </a:lnSpc>
              <a:spcBef>
                <a:spcPct val="0"/>
              </a:spcBef>
              <a:spcAft>
                <a:spcPts val="600"/>
              </a:spcAft>
            </a:pPr>
            <a:r>
              <a:rPr lang="en-US" sz="4000" i="1" kern="1200" dirty="0">
                <a:solidFill>
                  <a:schemeClr val="tx1"/>
                </a:solidFill>
                <a:latin typeface="+mj-lt"/>
                <a:ea typeface="+mj-ea"/>
                <a:cs typeface="+mj-cs"/>
              </a:rPr>
              <a:t>AI-Powered Meeting Intelligence System</a:t>
            </a:r>
            <a:endParaRPr lang="en-US" sz="4000" kern="1200" dirty="0">
              <a:solidFill>
                <a:schemeClr val="tx1"/>
              </a:solidFill>
              <a:latin typeface="+mj-lt"/>
              <a:ea typeface="+mj-ea"/>
              <a:cs typeface="+mj-cs"/>
            </a:endParaRPr>
          </a:p>
          <a:p>
            <a:pPr>
              <a:lnSpc>
                <a:spcPct val="90000"/>
              </a:lnSpc>
              <a:spcBef>
                <a:spcPct val="0"/>
              </a:spcBef>
              <a:spcAft>
                <a:spcPts val="600"/>
              </a:spcAft>
            </a:pPr>
            <a:endParaRPr lang="en-US" sz="4000" b="1" i="0" kern="1200" dirty="0">
              <a:solidFill>
                <a:schemeClr val="tx1"/>
              </a:solidFill>
              <a:effectLst/>
              <a:latin typeface="+mj-lt"/>
              <a:ea typeface="+mj-ea"/>
              <a:cs typeface="+mj-cs"/>
            </a:endParaRPr>
          </a:p>
        </p:txBody>
      </p:sp>
      <p:sp>
        <p:nvSpPr>
          <p:cNvPr id="11" name="TextBox 10">
            <a:extLst>
              <a:ext uri="{FF2B5EF4-FFF2-40B4-BE49-F238E27FC236}">
                <a16:creationId xmlns:a16="http://schemas.microsoft.com/office/drawing/2014/main" id="{3232C798-3C7E-4093-CB47-8433B81DBC76}"/>
              </a:ext>
            </a:extLst>
          </p:cNvPr>
          <p:cNvSpPr txBox="1"/>
          <p:nvPr/>
        </p:nvSpPr>
        <p:spPr>
          <a:xfrm>
            <a:off x="5181604" y="1676400"/>
            <a:ext cx="5638796" cy="350520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dirty="0">
                <a:solidFill>
                  <a:schemeClr val="tx1">
                    <a:alpha val="55000"/>
                  </a:schemeClr>
                </a:solidFill>
              </a:rPr>
              <a:t>Subject: </a:t>
            </a:r>
            <a:r>
              <a:rPr lang="en-US" sz="2400" b="1" dirty="0">
                <a:solidFill>
                  <a:schemeClr val="tx1">
                    <a:alpha val="55000"/>
                  </a:schemeClr>
                </a:solidFill>
              </a:rPr>
              <a:t>CSET431 – Special Topics in Computer Engineering</a:t>
            </a:r>
            <a:endParaRPr lang="en-US" sz="2400" dirty="0">
              <a:solidFill>
                <a:schemeClr val="tx1">
                  <a:alpha val="55000"/>
                </a:schemeClr>
              </a:solidFill>
            </a:endParaRPr>
          </a:p>
          <a:p>
            <a:pPr indent="-228600">
              <a:lnSpc>
                <a:spcPct val="90000"/>
              </a:lnSpc>
              <a:spcAft>
                <a:spcPts val="600"/>
              </a:spcAft>
              <a:buFont typeface="Arial" panose="020B0604020202020204" pitchFamily="34" charset="0"/>
              <a:buChar char="•"/>
            </a:pPr>
            <a:r>
              <a:rPr lang="en-US" sz="2400" dirty="0">
                <a:solidFill>
                  <a:schemeClr val="tx1">
                    <a:alpha val="55000"/>
                  </a:schemeClr>
                </a:solidFill>
              </a:rPr>
              <a:t>Student Name: [Your Name] </a:t>
            </a:r>
          </a:p>
          <a:p>
            <a:pPr indent="-228600">
              <a:lnSpc>
                <a:spcPct val="90000"/>
              </a:lnSpc>
              <a:spcAft>
                <a:spcPts val="600"/>
              </a:spcAft>
              <a:buFont typeface="Arial" panose="020B0604020202020204" pitchFamily="34" charset="0"/>
              <a:buChar char="•"/>
            </a:pPr>
            <a:r>
              <a:rPr lang="en-US" sz="2400" dirty="0">
                <a:solidFill>
                  <a:schemeClr val="tx1">
                    <a:alpha val="55000"/>
                  </a:schemeClr>
                </a:solidFill>
              </a:rPr>
              <a:t> Roll Number: [Your Roll Number]  </a:t>
            </a:r>
          </a:p>
          <a:p>
            <a:pPr indent="-228600">
              <a:lnSpc>
                <a:spcPct val="90000"/>
              </a:lnSpc>
              <a:spcAft>
                <a:spcPts val="600"/>
              </a:spcAft>
              <a:buFont typeface="Arial" panose="020B0604020202020204" pitchFamily="34" charset="0"/>
              <a:buChar char="•"/>
            </a:pPr>
            <a:r>
              <a:rPr lang="en-US" sz="2400" dirty="0">
                <a:solidFill>
                  <a:schemeClr val="tx1">
                    <a:alpha val="55000"/>
                  </a:schemeClr>
                </a:solidFill>
              </a:rPr>
              <a:t> Faculty Mentor: [Your Faculty Name]</a:t>
            </a:r>
          </a:p>
          <a:p>
            <a:pPr indent="-228600">
              <a:lnSpc>
                <a:spcPct val="90000"/>
              </a:lnSpc>
              <a:spcAft>
                <a:spcPts val="600"/>
              </a:spcAft>
              <a:buFont typeface="Arial" panose="020B0604020202020204" pitchFamily="34" charset="0"/>
              <a:buChar char="•"/>
            </a:pPr>
            <a:r>
              <a:rPr lang="en-US" sz="2400" dirty="0">
                <a:solidFill>
                  <a:schemeClr val="tx1">
                    <a:alpha val="55000"/>
                  </a:schemeClr>
                </a:solidFill>
              </a:rPr>
              <a:t>School of Computer Science Engineering and Technology  ·  </a:t>
            </a:r>
            <a:r>
              <a:rPr lang="en-US" sz="2400" b="1" dirty="0">
                <a:solidFill>
                  <a:schemeClr val="tx1">
                    <a:alpha val="55000"/>
                  </a:schemeClr>
                </a:solidFill>
              </a:rPr>
              <a:t>Bennett University</a:t>
            </a:r>
            <a:r>
              <a:rPr lang="en-US" sz="2400" dirty="0">
                <a:solidFill>
                  <a:schemeClr val="tx1">
                    <a:alpha val="55000"/>
                  </a:schemeClr>
                </a:solidFill>
              </a:rPr>
              <a:t>  |  Session 2025–26</a:t>
            </a:r>
          </a:p>
        </p:txBody>
      </p:sp>
      <p:pic>
        <p:nvPicPr>
          <p:cNvPr id="2" name="Picture 1">
            <a:extLst>
              <a:ext uri="{FF2B5EF4-FFF2-40B4-BE49-F238E27FC236}">
                <a16:creationId xmlns:a16="http://schemas.microsoft.com/office/drawing/2014/main" id="{F0CB502C-D049-C24D-4020-BE8C62C8E461}"/>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1FC50CB7-FEC2-DEE4-8821-F04F9DEBE13A}"/>
              </a:ext>
            </a:extLst>
          </p:cNvPr>
          <p:cNvPicPr>
            <a:picLocks noChangeAspect="1"/>
          </p:cNvPicPr>
          <p:nvPr/>
        </p:nvPicPr>
        <p:blipFill>
          <a:blip r:embed="rId2"/>
          <a:stretch>
            <a:fillRect/>
          </a:stretch>
        </p:blipFill>
        <p:spPr>
          <a:xfrm>
            <a:off x="10287237" y="0"/>
            <a:ext cx="1884443" cy="629920"/>
          </a:xfrm>
          <a:prstGeom prst="rect">
            <a:avLst/>
          </a:prstGeom>
        </p:spPr>
      </p:pic>
    </p:spTree>
    <p:extLst>
      <p:ext uri="{BB962C8B-B14F-4D97-AF65-F5344CB8AC3E}">
        <p14:creationId xmlns:p14="http://schemas.microsoft.com/office/powerpoint/2010/main" val="3452095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6A2894-97A8-2AF7-AA09-7E77C2A606D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310EB8E-B180-465A-4725-037DA64FC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73CBE3A3-24E4-7E03-11EB-11BD40D4A5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FFDCD4C7-1304-5C93-9F6E-AC0175BA3049}"/>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BB0DFB0D-C643-A0B4-31D9-711EBE02EA44}"/>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DA0B537B-14FB-54F2-3AAE-E408B8EED356}"/>
              </a:ext>
            </a:extLst>
          </p:cNvPr>
          <p:cNvSpPr txBox="1"/>
          <p:nvPr/>
        </p:nvSpPr>
        <p:spPr>
          <a:xfrm>
            <a:off x="881742" y="1166843"/>
            <a:ext cx="10433957" cy="4093428"/>
          </a:xfrm>
          <a:prstGeom prst="rect">
            <a:avLst/>
          </a:prstGeom>
          <a:noFill/>
        </p:spPr>
        <p:txBody>
          <a:bodyPr wrap="square">
            <a:spAutoFit/>
          </a:bodyPr>
          <a:lstStyle/>
          <a:p>
            <a:pPr algn="l">
              <a:buNone/>
            </a:pPr>
            <a:r>
              <a:rPr lang="en-US" sz="2000" b="1" i="0" dirty="0">
                <a:solidFill>
                  <a:srgbClr val="616161"/>
                </a:solidFill>
                <a:effectLst/>
                <a:latin typeface="ui-sans-serif"/>
              </a:rPr>
              <a:t>Brief Overview:</a:t>
            </a:r>
            <a:r>
              <a:rPr lang="en-US" sz="2000" b="0" i="0" dirty="0">
                <a:solidFill>
                  <a:srgbClr val="616161"/>
                </a:solidFill>
                <a:effectLst/>
                <a:latin typeface="ui-sans-serif"/>
              </a:rPr>
              <a:t> </a:t>
            </a:r>
            <a:r>
              <a:rPr lang="en-US" sz="2000" b="0" i="0" dirty="0" err="1">
                <a:solidFill>
                  <a:srgbClr val="616161"/>
                </a:solidFill>
                <a:effectLst/>
                <a:latin typeface="ui-sans-serif"/>
              </a:rPr>
              <a:t>MeetingAI</a:t>
            </a:r>
            <a:r>
              <a:rPr lang="en-US" sz="2000" b="0" i="0" dirty="0">
                <a:solidFill>
                  <a:srgbClr val="616161"/>
                </a:solidFill>
                <a:effectLst/>
                <a:latin typeface="ui-sans-serif"/>
              </a:rPr>
              <a:t> is a full-stack web application that converts any audio recording into structured, intelligent summaries — built specifically to handle real-world meetings, lectures, podcasts, and interviews.</a:t>
            </a:r>
          </a:p>
          <a:p>
            <a:pPr algn="l">
              <a:buNone/>
            </a:pPr>
            <a:r>
              <a:rPr lang="en-US" sz="2000" b="1" i="0" dirty="0">
                <a:solidFill>
                  <a:srgbClr val="616161"/>
                </a:solidFill>
                <a:effectLst/>
                <a:latin typeface="ui-sans-serif"/>
              </a:rPr>
              <a:t>Purpose of Study:</a:t>
            </a:r>
            <a:r>
              <a:rPr lang="en-US" sz="2000" b="0" i="0" dirty="0">
                <a:solidFill>
                  <a:srgbClr val="616161"/>
                </a:solidFill>
                <a:effectLst/>
                <a:latin typeface="ui-sans-serif"/>
              </a:rPr>
              <a:t> To explore how three large language models working in parallel can produce higher quality summaries than a single model, and deliver that capability through a secure, accessible web application.</a:t>
            </a:r>
          </a:p>
          <a:p>
            <a:pPr algn="l">
              <a:buNone/>
            </a:pPr>
            <a:r>
              <a:rPr lang="en-US" sz="2000" b="1" i="0" dirty="0">
                <a:solidFill>
                  <a:srgbClr val="616161"/>
                </a:solidFill>
                <a:effectLst/>
                <a:latin typeface="ui-sans-serif"/>
              </a:rPr>
              <a:t>Key Findings:</a:t>
            </a:r>
            <a:endParaRPr lang="en-US" sz="2000" b="0" i="0" dirty="0">
              <a:solidFill>
                <a:srgbClr val="616161"/>
              </a:solidFill>
              <a:effectLst/>
              <a:latin typeface="ui-sans-serif"/>
            </a:endParaRPr>
          </a:p>
          <a:p>
            <a:pPr algn="l">
              <a:buFont typeface="Arial" panose="020B0604020202020204" pitchFamily="34" charset="0"/>
              <a:buChar char="•"/>
            </a:pPr>
            <a:r>
              <a:rPr lang="en-US" sz="2000" b="0" i="0" dirty="0">
                <a:solidFill>
                  <a:srgbClr val="616161"/>
                </a:solidFill>
                <a:effectLst/>
                <a:latin typeface="ui-sans-serif"/>
              </a:rPr>
              <a:t>Three models running simultaneously finish in the time of one</a:t>
            </a:r>
          </a:p>
          <a:p>
            <a:pPr algn="l">
              <a:buFont typeface="Arial" panose="020B0604020202020204" pitchFamily="34" charset="0"/>
              <a:buChar char="•"/>
            </a:pPr>
            <a:r>
              <a:rPr lang="en-US" sz="2000" b="0" i="0" dirty="0">
                <a:solidFill>
                  <a:srgbClr val="616161"/>
                </a:solidFill>
                <a:effectLst/>
                <a:latin typeface="ui-sans-serif"/>
              </a:rPr>
              <a:t>Fifteen summary styles cover every professional use case</a:t>
            </a:r>
          </a:p>
          <a:p>
            <a:pPr algn="l">
              <a:buFont typeface="Arial" panose="020B0604020202020204" pitchFamily="34" charset="0"/>
              <a:buChar char="•"/>
            </a:pPr>
            <a:r>
              <a:rPr lang="en-US" sz="2000" b="0" i="0" dirty="0">
                <a:solidFill>
                  <a:srgbClr val="616161"/>
                </a:solidFill>
                <a:effectLst/>
                <a:latin typeface="ui-sans-serif"/>
              </a:rPr>
              <a:t>AES-256 encrypted key storage solves a real security gap</a:t>
            </a:r>
          </a:p>
          <a:p>
            <a:pPr algn="l">
              <a:buFont typeface="Arial" panose="020B0604020202020204" pitchFamily="34" charset="0"/>
              <a:buChar char="•"/>
            </a:pPr>
            <a:r>
              <a:rPr lang="en-US" sz="2000" b="0" i="0" dirty="0">
                <a:solidFill>
                  <a:srgbClr val="616161"/>
                </a:solidFill>
                <a:effectLst/>
                <a:latin typeface="ui-sans-serif"/>
              </a:rPr>
              <a:t>System is live and accessible globally at meetingai-2bqy.onrender.com</a:t>
            </a:r>
          </a:p>
          <a:p>
            <a:pPr algn="l">
              <a:buNone/>
            </a:pPr>
            <a:r>
              <a:rPr lang="en-US" sz="2000" b="1" i="0" dirty="0">
                <a:solidFill>
                  <a:srgbClr val="616161"/>
                </a:solidFill>
                <a:effectLst/>
                <a:latin typeface="ui-sans-serif"/>
              </a:rPr>
              <a:t>Technologies Discussed:</a:t>
            </a:r>
            <a:r>
              <a:rPr lang="en-US" sz="2000" b="0" i="0" dirty="0">
                <a:solidFill>
                  <a:srgbClr val="616161"/>
                </a:solidFill>
                <a:effectLst/>
                <a:latin typeface="ui-sans-serif"/>
              </a:rPr>
              <a:t> </a:t>
            </a:r>
            <a:r>
              <a:rPr lang="en-US" sz="2000" b="0" i="0" dirty="0" err="1">
                <a:solidFill>
                  <a:srgbClr val="616161"/>
                </a:solidFill>
                <a:effectLst/>
                <a:latin typeface="ui-sans-serif"/>
              </a:rPr>
              <a:t>Groq</a:t>
            </a:r>
            <a:r>
              <a:rPr lang="en-US" sz="2000" b="0" i="0" dirty="0">
                <a:solidFill>
                  <a:srgbClr val="616161"/>
                </a:solidFill>
                <a:effectLst/>
                <a:latin typeface="ui-sans-serif"/>
              </a:rPr>
              <a:t> Whisper · </a:t>
            </a:r>
            <a:r>
              <a:rPr lang="en-US" sz="2000" b="0" i="0" dirty="0" err="1">
                <a:solidFill>
                  <a:srgbClr val="616161"/>
                </a:solidFill>
                <a:effectLst/>
                <a:latin typeface="ui-sans-serif"/>
              </a:rPr>
              <a:t>LLaMA</a:t>
            </a:r>
            <a:r>
              <a:rPr lang="en-US" sz="2000" b="0" i="0" dirty="0">
                <a:solidFill>
                  <a:srgbClr val="616161"/>
                </a:solidFill>
                <a:effectLst/>
                <a:latin typeface="ui-sans-serif"/>
              </a:rPr>
              <a:t> 3.1 / 3.3 / 4 Scout · React · Node.js · SQLite · JWT · AES-256 · Render.com</a:t>
            </a:r>
          </a:p>
        </p:txBody>
      </p:sp>
      <p:sp>
        <p:nvSpPr>
          <p:cNvPr id="8" name="TextBox 7">
            <a:extLst>
              <a:ext uri="{FF2B5EF4-FFF2-40B4-BE49-F238E27FC236}">
                <a16:creationId xmlns:a16="http://schemas.microsoft.com/office/drawing/2014/main" id="{0A52D09F-EA60-A7CB-256A-FDA64A9DDC98}"/>
              </a:ext>
            </a:extLst>
          </p:cNvPr>
          <p:cNvSpPr txBox="1"/>
          <p:nvPr/>
        </p:nvSpPr>
        <p:spPr>
          <a:xfrm>
            <a:off x="991752" y="552183"/>
            <a:ext cx="9020394" cy="523220"/>
          </a:xfrm>
          <a:prstGeom prst="rect">
            <a:avLst/>
          </a:prstGeom>
          <a:noFill/>
        </p:spPr>
        <p:txBody>
          <a:bodyPr wrap="square">
            <a:spAutoFit/>
          </a:bodyPr>
          <a:lstStyle/>
          <a:p>
            <a:pPr algn="ctr">
              <a:buNone/>
            </a:pPr>
            <a:r>
              <a:rPr lang="en-IN" sz="2800" b="1" i="0" dirty="0">
                <a:solidFill>
                  <a:srgbClr val="616161"/>
                </a:solidFill>
                <a:effectLst/>
                <a:latin typeface="ui-sans-serif"/>
              </a:rPr>
              <a:t>Abstract</a:t>
            </a:r>
          </a:p>
        </p:txBody>
      </p:sp>
    </p:spTree>
    <p:extLst>
      <p:ext uri="{BB962C8B-B14F-4D97-AF65-F5344CB8AC3E}">
        <p14:creationId xmlns:p14="http://schemas.microsoft.com/office/powerpoint/2010/main" val="1887427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4DFE7A-B699-924E-B06B-A19C06785122}"/>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CB5EF35-B5F3-D6BE-F33E-E2560FA00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AB0D1AFF-EFDD-9C5F-E846-F3197E03E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32F69B93-B2D4-F64B-D013-8F4F5A48D752}"/>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DFC11060-D310-E8B4-E04D-DDECE152F14D}"/>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EF9937A9-DF81-E789-0B7E-90629D81E7DC}"/>
              </a:ext>
            </a:extLst>
          </p:cNvPr>
          <p:cNvSpPr txBox="1"/>
          <p:nvPr/>
        </p:nvSpPr>
        <p:spPr>
          <a:xfrm>
            <a:off x="874720" y="1124841"/>
            <a:ext cx="11139904" cy="4770537"/>
          </a:xfrm>
          <a:prstGeom prst="rect">
            <a:avLst/>
          </a:prstGeom>
          <a:noFill/>
        </p:spPr>
        <p:txBody>
          <a:bodyPr wrap="square">
            <a:spAutoFit/>
          </a:bodyPr>
          <a:lstStyle/>
          <a:p>
            <a:pPr algn="ctr">
              <a:buNone/>
            </a:pPr>
            <a:r>
              <a:rPr lang="en-US" sz="2000" b="1" i="0" dirty="0">
                <a:solidFill>
                  <a:srgbClr val="616161"/>
                </a:solidFill>
                <a:effectLst/>
                <a:latin typeface="ui-sans-serif"/>
              </a:rPr>
              <a:t> </a:t>
            </a:r>
            <a:r>
              <a:rPr lang="en-US" sz="2400" b="1" i="0" dirty="0">
                <a:solidFill>
                  <a:srgbClr val="616161"/>
                </a:solidFill>
                <a:effectLst/>
                <a:latin typeface="ui-sans-serif"/>
              </a:rPr>
              <a:t>Introduction</a:t>
            </a:r>
          </a:p>
          <a:p>
            <a:pPr algn="l">
              <a:buNone/>
            </a:pPr>
            <a:r>
              <a:rPr lang="en-US" sz="2000" b="1" i="0" dirty="0">
                <a:solidFill>
                  <a:srgbClr val="616161"/>
                </a:solidFill>
                <a:effectLst/>
                <a:latin typeface="ui-sans-serif"/>
              </a:rPr>
              <a:t>Background:</a:t>
            </a:r>
            <a:r>
              <a:rPr lang="en-US" sz="2000" b="0" i="0" dirty="0">
                <a:solidFill>
                  <a:srgbClr val="616161"/>
                </a:solidFill>
                <a:effectLst/>
                <a:latin typeface="ui-sans-serif"/>
              </a:rPr>
              <a:t> Every day, thousands of hours of meetings, lectures, and conversations are recorded but never properly reviewed. People forget decisions, miss action items, and struggle to find key moments in long recordings.</a:t>
            </a:r>
          </a:p>
          <a:p>
            <a:pPr algn="l">
              <a:buNone/>
            </a:pPr>
            <a:r>
              <a:rPr lang="en-US" sz="2000" b="1" i="0" dirty="0">
                <a:solidFill>
                  <a:srgbClr val="616161"/>
                </a:solidFill>
                <a:effectLst/>
                <a:latin typeface="ui-sans-serif"/>
              </a:rPr>
              <a:t>Why This Matters Now:</a:t>
            </a:r>
            <a:r>
              <a:rPr lang="en-US" sz="2000" b="0" i="0" dirty="0">
                <a:solidFill>
                  <a:srgbClr val="616161"/>
                </a:solidFill>
                <a:effectLst/>
                <a:latin typeface="ui-sans-serif"/>
              </a:rPr>
              <a:t> With large language models becoming fast and affordable through APIs, it is finally practical to summarize a one-hour meeting in under 10 seconds — something that was impossible just two years ago.</a:t>
            </a:r>
          </a:p>
          <a:p>
            <a:pPr algn="l">
              <a:buNone/>
            </a:pPr>
            <a:r>
              <a:rPr lang="en-US" sz="2000" b="1" i="0" dirty="0">
                <a:solidFill>
                  <a:srgbClr val="616161"/>
                </a:solidFill>
                <a:effectLst/>
                <a:latin typeface="ui-sans-serif"/>
              </a:rPr>
              <a:t>Problem Statement:</a:t>
            </a:r>
            <a:r>
              <a:rPr lang="en-US" sz="2000" b="0" i="0" dirty="0">
                <a:solidFill>
                  <a:srgbClr val="616161"/>
                </a:solidFill>
                <a:effectLst/>
                <a:latin typeface="ui-sans-serif"/>
              </a:rPr>
              <a:t> Existing tools either transcribe without summarizing, produce one generic summary style, expose API keys in the browser, or exist only as research scripts with no usable interface.</a:t>
            </a:r>
          </a:p>
          <a:p>
            <a:pPr algn="l">
              <a:buNone/>
            </a:pPr>
            <a:r>
              <a:rPr lang="en-US" sz="2000" b="1" i="0" dirty="0">
                <a:solidFill>
                  <a:srgbClr val="616161"/>
                </a:solidFill>
                <a:effectLst/>
                <a:latin typeface="ui-sans-serif"/>
              </a:rPr>
              <a:t>Objective:</a:t>
            </a:r>
            <a:r>
              <a:rPr lang="en-US" sz="2000" b="0" i="0" dirty="0">
                <a:solidFill>
                  <a:srgbClr val="616161"/>
                </a:solidFill>
                <a:effectLst/>
                <a:latin typeface="ui-sans-serif"/>
              </a:rPr>
              <a:t> Build a production-ready application that:</a:t>
            </a:r>
          </a:p>
          <a:p>
            <a:pPr algn="l">
              <a:buFont typeface="Arial" panose="020B0604020202020204" pitchFamily="34" charset="0"/>
              <a:buChar char="•"/>
            </a:pPr>
            <a:r>
              <a:rPr lang="en-US" sz="2000" b="0" i="0" dirty="0">
                <a:solidFill>
                  <a:srgbClr val="616161"/>
                </a:solidFill>
                <a:effectLst/>
                <a:latin typeface="ui-sans-serif"/>
              </a:rPr>
              <a:t>Transcribes any audio file automatically</a:t>
            </a:r>
          </a:p>
          <a:p>
            <a:pPr algn="l">
              <a:buFont typeface="Arial" panose="020B0604020202020204" pitchFamily="34" charset="0"/>
              <a:buChar char="•"/>
            </a:pPr>
            <a:r>
              <a:rPr lang="en-US" sz="2000" b="0" i="0" dirty="0">
                <a:solidFill>
                  <a:srgbClr val="616161"/>
                </a:solidFill>
                <a:effectLst/>
                <a:latin typeface="ui-sans-serif"/>
              </a:rPr>
              <a:t>Analyzes it with three AI models simultaneously</a:t>
            </a:r>
          </a:p>
          <a:p>
            <a:pPr algn="l">
              <a:buFont typeface="Arial" panose="020B0604020202020204" pitchFamily="34" charset="0"/>
              <a:buChar char="•"/>
            </a:pPr>
            <a:r>
              <a:rPr lang="en-US" sz="2000" b="0" i="0" dirty="0">
                <a:solidFill>
                  <a:srgbClr val="616161"/>
                </a:solidFill>
                <a:effectLst/>
                <a:latin typeface="ui-sans-serif"/>
              </a:rPr>
              <a:t>Gives users 15 summary formats to choose from</a:t>
            </a:r>
          </a:p>
          <a:p>
            <a:pPr algn="l">
              <a:buFont typeface="Arial" panose="020B0604020202020204" pitchFamily="34" charset="0"/>
              <a:buChar char="•"/>
            </a:pPr>
            <a:r>
              <a:rPr lang="en-US" sz="2000" b="0" i="0" dirty="0">
                <a:solidFill>
                  <a:srgbClr val="616161"/>
                </a:solidFill>
                <a:effectLst/>
                <a:latin typeface="ui-sans-serif"/>
              </a:rPr>
              <a:t>Keeps user credentials secure at all times</a:t>
            </a:r>
          </a:p>
          <a:p>
            <a:pPr algn="l">
              <a:buFont typeface="Arial" panose="020B0604020202020204" pitchFamily="34" charset="0"/>
              <a:buChar char="•"/>
            </a:pPr>
            <a:r>
              <a:rPr lang="en-US" sz="2000" b="0" i="0" dirty="0">
                <a:solidFill>
                  <a:srgbClr val="616161"/>
                </a:solidFill>
                <a:effectLst/>
                <a:latin typeface="ui-sans-serif"/>
              </a:rPr>
              <a:t>Works from any browser, anywhere in the world</a:t>
            </a:r>
          </a:p>
        </p:txBody>
      </p:sp>
    </p:spTree>
    <p:extLst>
      <p:ext uri="{BB962C8B-B14F-4D97-AF65-F5344CB8AC3E}">
        <p14:creationId xmlns:p14="http://schemas.microsoft.com/office/powerpoint/2010/main" val="24176944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0B2BAB-CB58-F181-6F94-3AF30C0B27D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72E7D43-BD22-A560-DC41-9396D2793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09511247-24F2-9A20-D24E-B1AD6A1BBD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44C1E897-E869-EFFB-3431-50FB762AAB44}"/>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9D4954EF-A028-EE43-15D3-E4B0AC6B7B94}"/>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FF146E7F-EAB8-B5BF-6B6C-8EBE45EF5B3D}"/>
              </a:ext>
            </a:extLst>
          </p:cNvPr>
          <p:cNvSpPr txBox="1"/>
          <p:nvPr/>
        </p:nvSpPr>
        <p:spPr>
          <a:xfrm>
            <a:off x="632642" y="629920"/>
            <a:ext cx="11005457" cy="5632311"/>
          </a:xfrm>
          <a:prstGeom prst="rect">
            <a:avLst/>
          </a:prstGeom>
          <a:noFill/>
        </p:spPr>
        <p:txBody>
          <a:bodyPr wrap="square">
            <a:spAutoFit/>
          </a:bodyPr>
          <a:lstStyle/>
          <a:p>
            <a:r>
              <a:rPr lang="en-IN" b="1" dirty="0"/>
              <a:t>The Core Concept:</a:t>
            </a:r>
            <a:r>
              <a:rPr lang="en-IN" dirty="0"/>
              <a:t> Upload audio → Get a smart, structured summary in seconds</a:t>
            </a:r>
          </a:p>
          <a:p>
            <a:r>
              <a:rPr lang="en-IN" b="1" dirty="0"/>
              <a:t>Working Principle — 2 Phases:</a:t>
            </a:r>
            <a:endParaRPr lang="en-IN" dirty="0"/>
          </a:p>
          <a:p>
            <a:r>
              <a:rPr lang="en-IN" b="1" dirty="0"/>
              <a:t>Phase 1 — Transcription</a:t>
            </a:r>
            <a:r>
              <a:rPr lang="en-IN" dirty="0"/>
              <a:t> Audio file → </a:t>
            </a:r>
            <a:r>
              <a:rPr lang="en-IN" dirty="0" err="1"/>
              <a:t>Groq</a:t>
            </a:r>
            <a:r>
              <a:rPr lang="en-IN" dirty="0"/>
              <a:t> Whisper API → Full transcript (Files over 25 MB are auto-compressed using </a:t>
            </a:r>
            <a:r>
              <a:rPr lang="en-IN" dirty="0" err="1"/>
              <a:t>FFmpeg</a:t>
            </a:r>
            <a:r>
              <a:rPr lang="en-IN" dirty="0"/>
              <a:t> first)</a:t>
            </a:r>
          </a:p>
          <a:p>
            <a:r>
              <a:rPr lang="en-IN" b="1" dirty="0"/>
              <a:t>Phase 2 — Parallel Analysis</a:t>
            </a:r>
            <a:endParaRPr lang="en-IN" dirty="0"/>
          </a:p>
          <a:p>
            <a:r>
              <a:rPr lang="en-IN" dirty="0"/>
              <a:t>Transcript</a:t>
            </a:r>
          </a:p>
          <a:p>
            <a:r>
              <a:rPr lang="en-IN" dirty="0"/>
              <a:t>   ├──► Scout-17B  (30K TPM) → Summary in user's style</a:t>
            </a:r>
          </a:p>
          <a:p>
            <a:r>
              <a:rPr lang="en-IN" dirty="0"/>
              <a:t>   ├──► 8B-Instant (6K TPM)  → Fast broad coverage</a:t>
            </a:r>
          </a:p>
          <a:p>
            <a:r>
              <a:rPr lang="en-IN" dirty="0"/>
              <a:t>   └──► 70B-Quality (12K TPM) → Deep, complete capture</a:t>
            </a:r>
          </a:p>
          <a:p>
            <a:r>
              <a:rPr lang="en-IN" dirty="0"/>
              <a:t>              ↓</a:t>
            </a:r>
          </a:p>
          <a:p>
            <a:r>
              <a:rPr lang="en-IN" dirty="0"/>
              <a:t>         MERGE STEP (Scout-17B combines all three)</a:t>
            </a:r>
          </a:p>
          <a:p>
            <a:r>
              <a:rPr lang="en-IN" dirty="0"/>
              <a:t>              ↓</a:t>
            </a:r>
          </a:p>
          <a:p>
            <a:r>
              <a:rPr lang="en-IN" dirty="0"/>
              <a:t>         Final Summary → Saved to user history</a:t>
            </a:r>
          </a:p>
          <a:p>
            <a:r>
              <a:rPr lang="en-IN" b="1" dirty="0"/>
              <a:t>Real-World Applications:</a:t>
            </a:r>
            <a:endParaRPr lang="en-IN" dirty="0"/>
          </a:p>
          <a:p>
            <a:r>
              <a:rPr lang="en-IN" dirty="0"/>
              <a:t>Teams reviewing meeting decisions without re-watching recordings</a:t>
            </a:r>
          </a:p>
          <a:p>
            <a:r>
              <a:rPr lang="en-IN" dirty="0"/>
              <a:t>Students converting lecture recordings into flashcards or study notes</a:t>
            </a:r>
          </a:p>
          <a:p>
            <a:r>
              <a:rPr lang="en-IN" dirty="0"/>
              <a:t>Professionals drafting follow-up emails from meeting audio</a:t>
            </a:r>
          </a:p>
          <a:p>
            <a:r>
              <a:rPr lang="en-IN" dirty="0"/>
              <a:t>Content creators generating podcast chapter breakdowns</a:t>
            </a:r>
          </a:p>
          <a:p>
            <a:r>
              <a:rPr lang="en-IN" b="1" dirty="0"/>
              <a:t>Tech Stack:</a:t>
            </a:r>
            <a:r>
              <a:rPr lang="en-IN" dirty="0"/>
              <a:t> Frontend: React 19 + Vite | Backend: Node.js + Express 5 Database: SQLite | Auth: JWT + </a:t>
            </a:r>
            <a:r>
              <a:rPr lang="en-IN" dirty="0" err="1"/>
              <a:t>bcrypt</a:t>
            </a:r>
            <a:r>
              <a:rPr lang="en-IN" dirty="0"/>
              <a:t> | Deployed: Render.com</a:t>
            </a:r>
          </a:p>
        </p:txBody>
      </p:sp>
      <p:sp>
        <p:nvSpPr>
          <p:cNvPr id="8" name="TextBox 7">
            <a:extLst>
              <a:ext uri="{FF2B5EF4-FFF2-40B4-BE49-F238E27FC236}">
                <a16:creationId xmlns:a16="http://schemas.microsoft.com/office/drawing/2014/main" id="{FD088E0D-652B-85FC-465B-EFE554519A8D}"/>
              </a:ext>
            </a:extLst>
          </p:cNvPr>
          <p:cNvSpPr txBox="1"/>
          <p:nvPr/>
        </p:nvSpPr>
        <p:spPr>
          <a:xfrm>
            <a:off x="2820761" y="226437"/>
            <a:ext cx="6098720" cy="461665"/>
          </a:xfrm>
          <a:prstGeom prst="rect">
            <a:avLst/>
          </a:prstGeom>
          <a:noFill/>
        </p:spPr>
        <p:txBody>
          <a:bodyPr wrap="square">
            <a:spAutoFit/>
          </a:bodyPr>
          <a:lstStyle/>
          <a:p>
            <a:pPr algn="l">
              <a:buNone/>
            </a:pPr>
            <a:r>
              <a:rPr lang="en-IN" sz="2400" b="1" i="0" dirty="0">
                <a:solidFill>
                  <a:srgbClr val="616161"/>
                </a:solidFill>
                <a:effectLst/>
                <a:latin typeface="ui-sans-serif"/>
              </a:rPr>
              <a:t>Overview of Technology / Architecture</a:t>
            </a:r>
          </a:p>
        </p:txBody>
      </p:sp>
    </p:spTree>
    <p:extLst>
      <p:ext uri="{BB962C8B-B14F-4D97-AF65-F5344CB8AC3E}">
        <p14:creationId xmlns:p14="http://schemas.microsoft.com/office/powerpoint/2010/main" val="2072261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0B3874-FBA7-838A-35EE-1DAD3D76DF0D}"/>
            </a:ext>
          </a:extLst>
        </p:cNvPr>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C477752-ACCA-41C1-9B1D-D0CED1F9CB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7DEFEEC-D8B4-2C74-A289-63CBCF657F50}"/>
              </a:ext>
            </a:extLst>
          </p:cNvPr>
          <p:cNvSpPr txBox="1"/>
          <p:nvPr/>
        </p:nvSpPr>
        <p:spPr>
          <a:xfrm>
            <a:off x="838200" y="347664"/>
            <a:ext cx="6163624" cy="1306475"/>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5200" b="1" i="0" kern="1200">
                <a:solidFill>
                  <a:schemeClr val="tx1"/>
                </a:solidFill>
                <a:effectLst/>
                <a:latin typeface="+mj-lt"/>
                <a:ea typeface="+mj-ea"/>
                <a:cs typeface="+mj-cs"/>
              </a:rPr>
              <a:t>Literature Review</a:t>
            </a:r>
          </a:p>
        </p:txBody>
      </p:sp>
      <p:pic>
        <p:nvPicPr>
          <p:cNvPr id="2" name="Picture 1">
            <a:extLst>
              <a:ext uri="{FF2B5EF4-FFF2-40B4-BE49-F238E27FC236}">
                <a16:creationId xmlns:a16="http://schemas.microsoft.com/office/drawing/2014/main" id="{85124EBE-E98F-F733-D61E-AB2B01D78765}"/>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AA4A0919-7CE3-E586-12E1-3E47F56318D0}"/>
              </a:ext>
            </a:extLst>
          </p:cNvPr>
          <p:cNvPicPr>
            <a:picLocks noChangeAspect="1"/>
          </p:cNvPicPr>
          <p:nvPr/>
        </p:nvPicPr>
        <p:blipFill>
          <a:blip r:embed="rId2"/>
          <a:stretch>
            <a:fillRect/>
          </a:stretch>
        </p:blipFill>
        <p:spPr>
          <a:xfrm>
            <a:off x="10287237" y="0"/>
            <a:ext cx="1884443" cy="629920"/>
          </a:xfrm>
          <a:prstGeom prst="rect">
            <a:avLst/>
          </a:prstGeom>
        </p:spPr>
      </p:pic>
      <p:graphicFrame>
        <p:nvGraphicFramePr>
          <p:cNvPr id="13" name="Table 12">
            <a:extLst>
              <a:ext uri="{FF2B5EF4-FFF2-40B4-BE49-F238E27FC236}">
                <a16:creationId xmlns:a16="http://schemas.microsoft.com/office/drawing/2014/main" id="{E497F74A-F73A-23DE-E75D-146240B0D77C}"/>
              </a:ext>
            </a:extLst>
          </p:cNvPr>
          <p:cNvGraphicFramePr>
            <a:graphicFrameLocks noGrp="1"/>
          </p:cNvGraphicFramePr>
          <p:nvPr>
            <p:extLst>
              <p:ext uri="{D42A27DB-BD31-4B8C-83A1-F6EECF244321}">
                <p14:modId xmlns:p14="http://schemas.microsoft.com/office/powerpoint/2010/main" val="933222320"/>
              </p:ext>
            </p:extLst>
          </p:nvPr>
        </p:nvGraphicFramePr>
        <p:xfrm>
          <a:off x="838200" y="2051342"/>
          <a:ext cx="10512549" cy="4038474"/>
        </p:xfrm>
        <a:graphic>
          <a:graphicData uri="http://schemas.openxmlformats.org/drawingml/2006/table">
            <a:tbl>
              <a:tblPr firstRow="1" bandRow="1">
                <a:noFill/>
              </a:tblPr>
              <a:tblGrid>
                <a:gridCol w="2624168">
                  <a:extLst>
                    <a:ext uri="{9D8B030D-6E8A-4147-A177-3AD203B41FA5}">
                      <a16:colId xmlns:a16="http://schemas.microsoft.com/office/drawing/2014/main" val="577317686"/>
                    </a:ext>
                  </a:extLst>
                </a:gridCol>
                <a:gridCol w="2561442">
                  <a:extLst>
                    <a:ext uri="{9D8B030D-6E8A-4147-A177-3AD203B41FA5}">
                      <a16:colId xmlns:a16="http://schemas.microsoft.com/office/drawing/2014/main" val="759577592"/>
                    </a:ext>
                  </a:extLst>
                </a:gridCol>
                <a:gridCol w="2665342">
                  <a:extLst>
                    <a:ext uri="{9D8B030D-6E8A-4147-A177-3AD203B41FA5}">
                      <a16:colId xmlns:a16="http://schemas.microsoft.com/office/drawing/2014/main" val="3318782744"/>
                    </a:ext>
                  </a:extLst>
                </a:gridCol>
                <a:gridCol w="2661597">
                  <a:extLst>
                    <a:ext uri="{9D8B030D-6E8A-4147-A177-3AD203B41FA5}">
                      <a16:colId xmlns:a16="http://schemas.microsoft.com/office/drawing/2014/main" val="32979168"/>
                    </a:ext>
                  </a:extLst>
                </a:gridCol>
              </a:tblGrid>
              <a:tr h="435990">
                <a:tc>
                  <a:txBody>
                    <a:bodyPr/>
                    <a:lstStyle/>
                    <a:p>
                      <a:pPr algn="l">
                        <a:buNone/>
                      </a:pPr>
                      <a:r>
                        <a:rPr lang="en-IN" sz="1500" b="0" cap="none" spc="60" dirty="0">
                          <a:solidFill>
                            <a:schemeClr val="bg1"/>
                          </a:solidFill>
                          <a:effectLst/>
                        </a:rPr>
                        <a:t>Author(s) &amp; Year</a:t>
                      </a:r>
                    </a:p>
                  </a:txBody>
                  <a:tcPr marL="45198" marR="45198" marT="84982" marB="90396" anchor="ctr">
                    <a:lnL w="12700" cmpd="sng">
                      <a:noFill/>
                      <a:prstDash val="solid"/>
                    </a:lnL>
                    <a:lnR w="12700" cmpd="sng">
                      <a:noFill/>
                      <a:prstDash val="solid"/>
                    </a:lnR>
                    <a:lnT w="19050" cap="flat" cmpd="sng" algn="ctr">
                      <a:noFill/>
                      <a:prstDash val="solid"/>
                    </a:lnT>
                    <a:lnB w="12700" cmpd="sng">
                      <a:noFill/>
                      <a:prstDash val="solid"/>
                    </a:lnB>
                    <a:solidFill>
                      <a:schemeClr val="accent1"/>
                    </a:solidFill>
                  </a:tcPr>
                </a:tc>
                <a:tc>
                  <a:txBody>
                    <a:bodyPr/>
                    <a:lstStyle/>
                    <a:p>
                      <a:pPr algn="l">
                        <a:buNone/>
                      </a:pPr>
                      <a:r>
                        <a:rPr lang="en-IN" sz="1500" b="0" cap="none" spc="60">
                          <a:solidFill>
                            <a:schemeClr val="bg1"/>
                          </a:solidFill>
                          <a:effectLst/>
                        </a:rPr>
                        <a:t>Title</a:t>
                      </a:r>
                    </a:p>
                  </a:txBody>
                  <a:tcPr marL="45198" marR="45198" marT="84982" marB="90396" anchor="ctr">
                    <a:lnL w="12700" cmpd="sng">
                      <a:noFill/>
                      <a:prstDash val="solid"/>
                    </a:lnL>
                    <a:lnR w="12700" cmpd="sng">
                      <a:noFill/>
                      <a:prstDash val="solid"/>
                    </a:lnR>
                    <a:lnT w="19050" cap="flat" cmpd="sng" algn="ctr">
                      <a:noFill/>
                      <a:prstDash val="solid"/>
                    </a:lnT>
                    <a:lnB w="12700" cmpd="sng">
                      <a:noFill/>
                      <a:prstDash val="solid"/>
                    </a:lnB>
                    <a:solidFill>
                      <a:schemeClr val="accent1"/>
                    </a:solidFill>
                  </a:tcPr>
                </a:tc>
                <a:tc>
                  <a:txBody>
                    <a:bodyPr/>
                    <a:lstStyle/>
                    <a:p>
                      <a:pPr algn="l">
                        <a:buNone/>
                      </a:pPr>
                      <a:r>
                        <a:rPr lang="en-IN" sz="1500" b="0" cap="none" spc="60">
                          <a:solidFill>
                            <a:schemeClr val="bg1"/>
                          </a:solidFill>
                          <a:effectLst/>
                        </a:rPr>
                        <a:t>Methodology</a:t>
                      </a:r>
                    </a:p>
                  </a:txBody>
                  <a:tcPr marL="45198" marR="45198" marT="84982" marB="90396" anchor="ctr">
                    <a:lnL w="12700" cmpd="sng">
                      <a:noFill/>
                      <a:prstDash val="solid"/>
                    </a:lnL>
                    <a:lnR w="12700" cmpd="sng">
                      <a:noFill/>
                      <a:prstDash val="solid"/>
                    </a:lnR>
                    <a:lnT w="19050" cap="flat" cmpd="sng" algn="ctr">
                      <a:noFill/>
                      <a:prstDash val="solid"/>
                    </a:lnT>
                    <a:lnB w="12700" cmpd="sng">
                      <a:noFill/>
                      <a:prstDash val="solid"/>
                    </a:lnB>
                    <a:solidFill>
                      <a:schemeClr val="accent1"/>
                    </a:solidFill>
                  </a:tcPr>
                </a:tc>
                <a:tc>
                  <a:txBody>
                    <a:bodyPr/>
                    <a:lstStyle/>
                    <a:p>
                      <a:pPr algn="l">
                        <a:buNone/>
                      </a:pPr>
                      <a:r>
                        <a:rPr lang="en-IN" sz="1500" b="0" cap="none" spc="60">
                          <a:solidFill>
                            <a:schemeClr val="bg1"/>
                          </a:solidFill>
                          <a:effectLst/>
                        </a:rPr>
                        <a:t>Key Findings</a:t>
                      </a:r>
                    </a:p>
                  </a:txBody>
                  <a:tcPr marL="45198" marR="45198" marT="84982" marB="90396" anchor="ctr">
                    <a:lnL w="12700" cmpd="sng">
                      <a:noFill/>
                      <a:prstDash val="solid"/>
                    </a:lnL>
                    <a:lnR w="12700" cmpd="sng">
                      <a:noFill/>
                      <a:prstDash val="solid"/>
                    </a:lnR>
                    <a:lnT w="19050" cap="flat" cmpd="sng" algn="ctr">
                      <a:noFill/>
                      <a:prstDash val="solid"/>
                    </a:lnT>
                    <a:lnB w="12700" cmpd="sng">
                      <a:noFill/>
                      <a:prstDash val="solid"/>
                    </a:lnB>
                    <a:solidFill>
                      <a:schemeClr val="accent1"/>
                    </a:solidFill>
                  </a:tcPr>
                </a:tc>
                <a:extLst>
                  <a:ext uri="{0D108BD9-81ED-4DB2-BD59-A6C34878D82A}">
                    <a16:rowId xmlns:a16="http://schemas.microsoft.com/office/drawing/2014/main" val="1126040085"/>
                  </a:ext>
                </a:extLst>
              </a:tr>
              <a:tr h="1200828">
                <a:tc>
                  <a:txBody>
                    <a:bodyPr/>
                    <a:lstStyle/>
                    <a:p>
                      <a:pPr>
                        <a:buNone/>
                      </a:pPr>
                      <a:r>
                        <a:rPr lang="en-IN" sz="1300" cap="none" spc="0">
                          <a:solidFill>
                            <a:schemeClr val="tx1"/>
                          </a:solidFill>
                          <a:effectLst/>
                        </a:rPr>
                        <a:t>Ganguly et al. (2024)</a:t>
                      </a:r>
                    </a:p>
                  </a:txBody>
                  <a:tcPr marL="45198" marR="45198" marT="84982" marB="9039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IN" sz="1300" cap="none" spc="0">
                          <a:solidFill>
                            <a:schemeClr val="tx1"/>
                          </a:solidFill>
                          <a:effectLst/>
                        </a:rPr>
                        <a:t>WhisperSum: Unified Audio-to-Text Summarization</a:t>
                      </a:r>
                    </a:p>
                  </a:txBody>
                  <a:tcPr marL="45198" marR="45198" marT="84982" marB="9039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300" cap="none" spc="0">
                          <a:solidFill>
                            <a:schemeClr val="tx1"/>
                          </a:solidFill>
                          <a:effectLst/>
                        </a:rPr>
                        <a:t>OpenAI Whisper for ASR + spaCy extractive summarization + Flask web app</a:t>
                      </a:r>
                    </a:p>
                  </a:txBody>
                  <a:tcPr marL="45198" marR="45198" marT="84982" marB="90396"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buNone/>
                      </a:pPr>
                      <a:r>
                        <a:rPr lang="en-US" sz="1300" cap="none" spc="0">
                          <a:solidFill>
                            <a:schemeClr val="tx1"/>
                          </a:solidFill>
                          <a:effectLst/>
                        </a:rPr>
                        <a:t>Proved that combining Whisper with an NLP summarizer in a browser-accessible web app is effective — same pipeline as MeetingAI</a:t>
                      </a:r>
                    </a:p>
                  </a:txBody>
                  <a:tcPr marL="45198" marR="45198" marT="84982" marB="90396"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493634455"/>
                  </a:ext>
                </a:extLst>
              </a:tr>
              <a:tr h="1200828">
                <a:tc>
                  <a:txBody>
                    <a:bodyPr/>
                    <a:lstStyle/>
                    <a:p>
                      <a:pPr>
                        <a:buNone/>
                      </a:pPr>
                      <a:r>
                        <a:rPr lang="en-IN" sz="1300" cap="none" spc="0">
                          <a:solidFill>
                            <a:schemeClr val="tx1"/>
                          </a:solidFill>
                          <a:effectLst/>
                        </a:rPr>
                        <a:t>Kirstein, Ruas &amp; Gipp (2024)</a:t>
                      </a:r>
                    </a:p>
                  </a:txBody>
                  <a:tcPr marL="45198" marR="45198" marT="84982" marB="9039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What's Wrong? Refining Meeting Summaries with LLM Feedback</a:t>
                      </a:r>
                    </a:p>
                  </a:txBody>
                  <a:tcPr marL="45198" marR="45198" marT="84982" marB="9039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LLM identifies errors in a first-pass summary, then refines it in a second pass</a:t>
                      </a:r>
                    </a:p>
                  </a:txBody>
                  <a:tcPr marL="45198" marR="45198" marT="84982" marB="9039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US" sz="1300" cap="none" spc="0">
                          <a:solidFill>
                            <a:schemeClr val="tx1"/>
                          </a:solidFill>
                          <a:effectLst/>
                        </a:rPr>
                        <a:t>Two-step correction improves factual accuracy significantly over single-pass — directly validates MeetingAI's generate-then-merge design</a:t>
                      </a:r>
                    </a:p>
                  </a:txBody>
                  <a:tcPr marL="45198" marR="45198" marT="84982" marB="90396"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156943366"/>
                  </a:ext>
                </a:extLst>
              </a:tr>
              <a:tr h="1200828">
                <a:tc>
                  <a:txBody>
                    <a:bodyPr/>
                    <a:lstStyle/>
                    <a:p>
                      <a:pPr>
                        <a:buNone/>
                      </a:pPr>
                      <a:r>
                        <a:rPr lang="nl-NL" sz="1300" cap="none" spc="0">
                          <a:solidFill>
                            <a:schemeClr val="tx1"/>
                          </a:solidFill>
                          <a:effectLst/>
                        </a:rPr>
                        <a:t>Madaan et al. (NeurIPS 2023)</a:t>
                      </a:r>
                    </a:p>
                  </a:txBody>
                  <a:tcPr marL="45198" marR="45198" marT="84982" marB="9039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300" cap="none" spc="0">
                          <a:solidFill>
                            <a:schemeClr val="tx1"/>
                          </a:solidFill>
                          <a:effectLst/>
                        </a:rPr>
                        <a:t>Self-Refine: Iterative Refinement with Self-Feedback</a:t>
                      </a:r>
                    </a:p>
                  </a:txBody>
                  <a:tcPr marL="45198" marR="45198" marT="84982" marB="9039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300" cap="none" spc="0">
                          <a:solidFill>
                            <a:schemeClr val="tx1"/>
                          </a:solidFill>
                          <a:effectLst/>
                        </a:rPr>
                        <a:t>LLM generates output → critiques it → revises it, no retraining needed</a:t>
                      </a:r>
                    </a:p>
                  </a:txBody>
                  <a:tcPr marL="45198" marR="45198" marT="84982" marB="90396"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300" cap="none" spc="0" dirty="0">
                          <a:solidFill>
                            <a:schemeClr val="tx1"/>
                          </a:solidFill>
                          <a:effectLst/>
                        </a:rPr>
                        <a:t>Self-feedback loops improved quality by ~20% across NLP tasks — theoretical foundation for </a:t>
                      </a:r>
                      <a:r>
                        <a:rPr lang="en-US" sz="1300" cap="none" spc="0" dirty="0" err="1">
                          <a:solidFill>
                            <a:schemeClr val="tx1"/>
                          </a:solidFill>
                          <a:effectLst/>
                        </a:rPr>
                        <a:t>MeetingAI's</a:t>
                      </a:r>
                      <a:r>
                        <a:rPr lang="en-US" sz="1300" cap="none" spc="0" dirty="0">
                          <a:solidFill>
                            <a:schemeClr val="tx1"/>
                          </a:solidFill>
                          <a:effectLst/>
                        </a:rPr>
                        <a:t> multi-model merge step</a:t>
                      </a:r>
                    </a:p>
                  </a:txBody>
                  <a:tcPr marL="45198" marR="45198" marT="84982" marB="90396"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43757876"/>
                  </a:ext>
                </a:extLst>
              </a:tr>
            </a:tbl>
          </a:graphicData>
        </a:graphic>
      </p:graphicFrame>
    </p:spTree>
    <p:extLst>
      <p:ext uri="{BB962C8B-B14F-4D97-AF65-F5344CB8AC3E}">
        <p14:creationId xmlns:p14="http://schemas.microsoft.com/office/powerpoint/2010/main" val="3172419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502D83-74A5-3D5D-5039-A34132E0ABE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F4CD1D3-F7B1-A993-6AE8-A33184CA3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B274BC45-B547-5781-EE7F-D8A28875E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DAE60FC7-DA3F-727B-37A5-83B772A5C956}"/>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CFD042AA-0400-A9B9-7B72-AFA2CE514863}"/>
              </a:ext>
            </a:extLst>
          </p:cNvPr>
          <p:cNvPicPr>
            <a:picLocks noChangeAspect="1"/>
          </p:cNvPicPr>
          <p:nvPr/>
        </p:nvPicPr>
        <p:blipFill>
          <a:blip r:embed="rId2"/>
          <a:stretch>
            <a:fillRect/>
          </a:stretch>
        </p:blipFill>
        <p:spPr>
          <a:xfrm>
            <a:off x="10287237" y="0"/>
            <a:ext cx="1884443" cy="629920"/>
          </a:xfrm>
          <a:prstGeom prst="rect">
            <a:avLst/>
          </a:prstGeom>
        </p:spPr>
      </p:pic>
      <p:graphicFrame>
        <p:nvGraphicFramePr>
          <p:cNvPr id="4" name="Table 3">
            <a:extLst>
              <a:ext uri="{FF2B5EF4-FFF2-40B4-BE49-F238E27FC236}">
                <a16:creationId xmlns:a16="http://schemas.microsoft.com/office/drawing/2014/main" id="{33AF9200-184D-DDD0-4C3A-D4F55C632009}"/>
              </a:ext>
            </a:extLst>
          </p:cNvPr>
          <p:cNvGraphicFramePr>
            <a:graphicFrameLocks noGrp="1"/>
          </p:cNvGraphicFramePr>
          <p:nvPr>
            <p:extLst>
              <p:ext uri="{D42A27DB-BD31-4B8C-83A1-F6EECF244321}">
                <p14:modId xmlns:p14="http://schemas.microsoft.com/office/powerpoint/2010/main" val="1452005715"/>
              </p:ext>
            </p:extLst>
          </p:nvPr>
        </p:nvGraphicFramePr>
        <p:xfrm>
          <a:off x="695507" y="711646"/>
          <a:ext cx="10432240" cy="4604657"/>
        </p:xfrm>
        <a:graphic>
          <a:graphicData uri="http://schemas.openxmlformats.org/drawingml/2006/table">
            <a:tbl>
              <a:tblPr firstRow="1">
                <a:tableStyleId>{B301B821-A1FF-4177-AEE7-76D212191A09}</a:tableStyleId>
              </a:tblPr>
              <a:tblGrid>
                <a:gridCol w="2561869">
                  <a:extLst>
                    <a:ext uri="{9D8B030D-6E8A-4147-A177-3AD203B41FA5}">
                      <a16:colId xmlns:a16="http://schemas.microsoft.com/office/drawing/2014/main" val="1986508458"/>
                    </a:ext>
                  </a:extLst>
                </a:gridCol>
                <a:gridCol w="2650671">
                  <a:extLst>
                    <a:ext uri="{9D8B030D-6E8A-4147-A177-3AD203B41FA5}">
                      <a16:colId xmlns:a16="http://schemas.microsoft.com/office/drawing/2014/main" val="132867442"/>
                    </a:ext>
                  </a:extLst>
                </a:gridCol>
                <a:gridCol w="2606270">
                  <a:extLst>
                    <a:ext uri="{9D8B030D-6E8A-4147-A177-3AD203B41FA5}">
                      <a16:colId xmlns:a16="http://schemas.microsoft.com/office/drawing/2014/main" val="3428898703"/>
                    </a:ext>
                  </a:extLst>
                </a:gridCol>
                <a:gridCol w="2613430">
                  <a:extLst>
                    <a:ext uri="{9D8B030D-6E8A-4147-A177-3AD203B41FA5}">
                      <a16:colId xmlns:a16="http://schemas.microsoft.com/office/drawing/2014/main" val="3809422348"/>
                    </a:ext>
                  </a:extLst>
                </a:gridCol>
              </a:tblGrid>
              <a:tr h="386889">
                <a:tc>
                  <a:txBody>
                    <a:bodyPr/>
                    <a:lstStyle/>
                    <a:p>
                      <a:pPr algn="l">
                        <a:buNone/>
                      </a:pPr>
                      <a:r>
                        <a:rPr lang="en-IN" sz="1800" b="0" dirty="0">
                          <a:effectLst/>
                        </a:rPr>
                        <a:t>Author(s) &amp; Year</a:t>
                      </a:r>
                    </a:p>
                  </a:txBody>
                  <a:tcPr marL="90653" marR="90653" marT="45326" marB="45326" anchor="ctr"/>
                </a:tc>
                <a:tc>
                  <a:txBody>
                    <a:bodyPr/>
                    <a:lstStyle/>
                    <a:p>
                      <a:pPr algn="l">
                        <a:buNone/>
                      </a:pPr>
                      <a:r>
                        <a:rPr lang="en-IN" sz="1800" b="0">
                          <a:effectLst/>
                        </a:rPr>
                        <a:t>Title</a:t>
                      </a:r>
                    </a:p>
                  </a:txBody>
                  <a:tcPr marL="90653" marR="90653" marT="45326" marB="45326" anchor="ctr"/>
                </a:tc>
                <a:tc>
                  <a:txBody>
                    <a:bodyPr/>
                    <a:lstStyle/>
                    <a:p>
                      <a:pPr algn="l">
                        <a:buNone/>
                      </a:pPr>
                      <a:r>
                        <a:rPr lang="en-IN" sz="1800" b="0" dirty="0">
                          <a:effectLst/>
                        </a:rPr>
                        <a:t>Methodology</a:t>
                      </a:r>
                    </a:p>
                  </a:txBody>
                  <a:tcPr marL="90653" marR="90653" marT="45326" marB="45326" anchor="ctr"/>
                </a:tc>
                <a:tc>
                  <a:txBody>
                    <a:bodyPr/>
                    <a:lstStyle/>
                    <a:p>
                      <a:pPr algn="l">
                        <a:buNone/>
                      </a:pPr>
                      <a:r>
                        <a:rPr lang="en-IN" sz="1800" b="0">
                          <a:effectLst/>
                        </a:rPr>
                        <a:t>Key Findings</a:t>
                      </a:r>
                    </a:p>
                  </a:txBody>
                  <a:tcPr marL="90653" marR="90653" marT="45326" marB="45326" anchor="ctr"/>
                </a:tc>
                <a:extLst>
                  <a:ext uri="{0D108BD9-81ED-4DB2-BD59-A6C34878D82A}">
                    <a16:rowId xmlns:a16="http://schemas.microsoft.com/office/drawing/2014/main" val="1620017107"/>
                  </a:ext>
                </a:extLst>
              </a:tr>
              <a:tr h="2131649">
                <a:tc>
                  <a:txBody>
                    <a:bodyPr/>
                    <a:lstStyle/>
                    <a:p>
                      <a:pPr>
                        <a:buNone/>
                      </a:pPr>
                      <a:r>
                        <a:rPr lang="en-IN" sz="1800" dirty="0">
                          <a:effectLst/>
                        </a:rPr>
                        <a:t>Kirstein, Ruas, </a:t>
                      </a:r>
                      <a:r>
                        <a:rPr lang="en-IN" sz="1800" dirty="0" err="1">
                          <a:effectLst/>
                        </a:rPr>
                        <a:t>Kratel</a:t>
                      </a:r>
                      <a:r>
                        <a:rPr lang="en-IN" sz="1800" dirty="0">
                          <a:effectLst/>
                        </a:rPr>
                        <a:t> &amp; Gipp (EMNLP 2024)</a:t>
                      </a:r>
                    </a:p>
                  </a:txBody>
                  <a:tcPr marL="90653" marR="90653" marT="45326" marB="45326" anchor="ctr"/>
                </a:tc>
                <a:tc>
                  <a:txBody>
                    <a:bodyPr/>
                    <a:lstStyle/>
                    <a:p>
                      <a:pPr>
                        <a:buNone/>
                      </a:pPr>
                      <a:r>
                        <a:rPr lang="en-US" sz="1800" dirty="0">
                          <a:effectLst/>
                        </a:rPr>
                        <a:t>Tell Me What I Need to Know: LLM-based Personalized Meeting Summarization</a:t>
                      </a:r>
                    </a:p>
                  </a:txBody>
                  <a:tcPr marL="90653" marR="90653" marT="45326" marB="45326" anchor="ctr"/>
                </a:tc>
                <a:tc>
                  <a:txBody>
                    <a:bodyPr/>
                    <a:lstStyle/>
                    <a:p>
                      <a:pPr>
                        <a:buNone/>
                      </a:pPr>
                      <a:r>
                        <a:rPr lang="en-US" sz="1800">
                          <a:effectLst/>
                        </a:rPr>
                        <a:t>3-stage pipeline: identify knowledge gaps → infer roles → produce personalized summaries</a:t>
                      </a:r>
                    </a:p>
                  </a:txBody>
                  <a:tcPr marL="90653" marR="90653" marT="45326" marB="45326" anchor="ctr"/>
                </a:tc>
                <a:tc>
                  <a:txBody>
                    <a:bodyPr/>
                    <a:lstStyle/>
                    <a:p>
                      <a:pPr>
                        <a:buNone/>
                      </a:pPr>
                      <a:r>
                        <a:rPr lang="en-US" sz="1800">
                          <a:effectLst/>
                        </a:rPr>
                        <a:t>Multi-stage pipelines that adapt to the user's specific information needs outperform generic summarization — motivates MeetingAI's 15 style options</a:t>
                      </a:r>
                    </a:p>
                  </a:txBody>
                  <a:tcPr marL="90653" marR="90653" marT="45326" marB="45326" anchor="ctr"/>
                </a:tc>
                <a:extLst>
                  <a:ext uri="{0D108BD9-81ED-4DB2-BD59-A6C34878D82A}">
                    <a16:rowId xmlns:a16="http://schemas.microsoft.com/office/drawing/2014/main" val="1838011914"/>
                  </a:ext>
                </a:extLst>
              </a:tr>
              <a:tr h="2086119">
                <a:tc>
                  <a:txBody>
                    <a:bodyPr/>
                    <a:lstStyle/>
                    <a:p>
                      <a:pPr>
                        <a:buNone/>
                      </a:pPr>
                      <a:r>
                        <a:rPr lang="en-IN" sz="1800">
                          <a:effectLst/>
                        </a:rPr>
                        <a:t>Bano et al. (arXiv 2024)</a:t>
                      </a:r>
                    </a:p>
                  </a:txBody>
                  <a:tcPr marL="90653" marR="90653" marT="45326" marB="45326" anchor="ctr"/>
                </a:tc>
                <a:tc>
                  <a:txBody>
                    <a:bodyPr/>
                    <a:lstStyle/>
                    <a:p>
                      <a:pPr>
                        <a:buNone/>
                      </a:pPr>
                      <a:r>
                        <a:rPr lang="en-US" sz="1800">
                          <a:effectLst/>
                        </a:rPr>
                        <a:t>End-to-End Speech Summarization Using Large Language Models</a:t>
                      </a:r>
                    </a:p>
                  </a:txBody>
                  <a:tcPr marL="90653" marR="90653" marT="45326" marB="45326" anchor="ctr"/>
                </a:tc>
                <a:tc>
                  <a:txBody>
                    <a:bodyPr/>
                    <a:lstStyle/>
                    <a:p>
                      <a:pPr>
                        <a:buNone/>
                      </a:pPr>
                      <a:r>
                        <a:rPr lang="en-US" sz="1800">
                          <a:effectLst/>
                        </a:rPr>
                        <a:t>Direct coupling of Whisper encoder with LLaMA decoder for speech-to-summary</a:t>
                      </a:r>
                    </a:p>
                  </a:txBody>
                  <a:tcPr marL="90653" marR="90653" marT="45326" marB="45326" anchor="ctr"/>
                </a:tc>
                <a:tc>
                  <a:txBody>
                    <a:bodyPr/>
                    <a:lstStyle/>
                    <a:p>
                      <a:pPr>
                        <a:buNone/>
                      </a:pPr>
                      <a:r>
                        <a:rPr lang="en-US" sz="1800" dirty="0">
                          <a:effectLst/>
                        </a:rPr>
                        <a:t>End-to-end Whisper + </a:t>
                      </a:r>
                      <a:r>
                        <a:rPr lang="en-US" sz="1800" dirty="0" err="1">
                          <a:effectLst/>
                        </a:rPr>
                        <a:t>LLaMA</a:t>
                      </a:r>
                      <a:r>
                        <a:rPr lang="en-US" sz="1800" dirty="0">
                          <a:effectLst/>
                        </a:rPr>
                        <a:t> pipelines achieve strong results with minimal preprocessing — validates </a:t>
                      </a:r>
                      <a:r>
                        <a:rPr lang="en-US" sz="1800" dirty="0" err="1">
                          <a:effectLst/>
                        </a:rPr>
                        <a:t>MeetingAI's</a:t>
                      </a:r>
                      <a:r>
                        <a:rPr lang="en-US" sz="1800" dirty="0">
                          <a:effectLst/>
                        </a:rPr>
                        <a:t> core component choices</a:t>
                      </a:r>
                    </a:p>
                  </a:txBody>
                  <a:tcPr marL="90653" marR="90653" marT="45326" marB="45326" anchor="ctr"/>
                </a:tc>
                <a:extLst>
                  <a:ext uri="{0D108BD9-81ED-4DB2-BD59-A6C34878D82A}">
                    <a16:rowId xmlns:a16="http://schemas.microsoft.com/office/drawing/2014/main" val="2727390202"/>
                  </a:ext>
                </a:extLst>
              </a:tr>
            </a:tbl>
          </a:graphicData>
        </a:graphic>
      </p:graphicFrame>
      <p:sp>
        <p:nvSpPr>
          <p:cNvPr id="8" name="TextBox 7">
            <a:extLst>
              <a:ext uri="{FF2B5EF4-FFF2-40B4-BE49-F238E27FC236}">
                <a16:creationId xmlns:a16="http://schemas.microsoft.com/office/drawing/2014/main" id="{F7BBEED3-5719-956C-187E-0EF1CA3ABB46}"/>
              </a:ext>
            </a:extLst>
          </p:cNvPr>
          <p:cNvSpPr txBox="1"/>
          <p:nvPr/>
        </p:nvSpPr>
        <p:spPr>
          <a:xfrm>
            <a:off x="919251" y="5454952"/>
            <a:ext cx="10432240" cy="646331"/>
          </a:xfrm>
          <a:prstGeom prst="rect">
            <a:avLst/>
          </a:prstGeom>
          <a:noFill/>
        </p:spPr>
        <p:txBody>
          <a:bodyPr wrap="square">
            <a:spAutoFit/>
          </a:bodyPr>
          <a:lstStyle/>
          <a:p>
            <a:r>
              <a:rPr lang="en-US" b="1" i="0" dirty="0">
                <a:solidFill>
                  <a:srgbClr val="616161"/>
                </a:solidFill>
                <a:effectLst/>
                <a:latin typeface="ui-sans-serif"/>
              </a:rPr>
              <a:t>Summary of Gap:</a:t>
            </a:r>
            <a:r>
              <a:rPr lang="en-US" b="0" i="0" dirty="0">
                <a:solidFill>
                  <a:srgbClr val="616161"/>
                </a:solidFill>
                <a:effectLst/>
                <a:latin typeface="ui-sans-serif"/>
              </a:rPr>
              <a:t> All five papers validated individual components — but none combined live transcription + multi-model parallel inference + 15 styles + user authentication + deployment into a single working product.</a:t>
            </a:r>
            <a:endParaRPr lang="en-IN" dirty="0"/>
          </a:p>
        </p:txBody>
      </p:sp>
    </p:spTree>
    <p:extLst>
      <p:ext uri="{BB962C8B-B14F-4D97-AF65-F5344CB8AC3E}">
        <p14:creationId xmlns:p14="http://schemas.microsoft.com/office/powerpoint/2010/main" val="7517264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245A9B-F0BC-28A6-8006-C8E0ED93EEC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1E8BC7B-83AC-0D64-48D5-A36395FC93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E27DB705-2B0C-5D1C-9BC8-51BE5FAE4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B62A875B-DC73-D64E-9FD0-26717B2FDA72}"/>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BB14DED9-BD06-59F0-00C4-886891B15F19}"/>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121AB37E-FFB9-ED05-5698-3D09C7F2B843}"/>
              </a:ext>
            </a:extLst>
          </p:cNvPr>
          <p:cNvSpPr txBox="1"/>
          <p:nvPr/>
        </p:nvSpPr>
        <p:spPr>
          <a:xfrm>
            <a:off x="534243" y="1758801"/>
            <a:ext cx="11450927" cy="3693319"/>
          </a:xfrm>
          <a:prstGeom prst="rect">
            <a:avLst/>
          </a:prstGeom>
          <a:noFill/>
        </p:spPr>
        <p:txBody>
          <a:bodyPr wrap="square">
            <a:spAutoFit/>
          </a:bodyPr>
          <a:lstStyle/>
          <a:p>
            <a:r>
              <a:rPr lang="en-IN" b="1" dirty="0"/>
              <a:t>🔵 </a:t>
            </a:r>
            <a:r>
              <a:rPr lang="en-IN" b="1" dirty="0" err="1"/>
              <a:t>Groq</a:t>
            </a:r>
            <a:r>
              <a:rPr lang="en-IN" b="1" dirty="0"/>
              <a:t> LPU (Language Processing Unit)</a:t>
            </a:r>
            <a:r>
              <a:rPr lang="en-IN" dirty="0"/>
              <a:t> Custom AI inference hardware that runs </a:t>
            </a:r>
            <a:r>
              <a:rPr lang="en-IN" dirty="0" err="1"/>
              <a:t>LLaMA</a:t>
            </a:r>
            <a:r>
              <a:rPr lang="en-IN" dirty="0"/>
              <a:t> models ~10x faster than standard GPUs. Whisper-large-v3-turbo on </a:t>
            </a:r>
            <a:r>
              <a:rPr lang="en-IN" dirty="0" err="1"/>
              <a:t>Groq</a:t>
            </a:r>
            <a:r>
              <a:rPr lang="en-IN" dirty="0"/>
              <a:t> transcribes speech 200x faster than real time — making instant transcription feel seamless.</a:t>
            </a:r>
          </a:p>
          <a:p>
            <a:r>
              <a:rPr lang="en-IN" b="1" dirty="0"/>
              <a:t>🟣 </a:t>
            </a:r>
            <a:r>
              <a:rPr lang="en-IN" b="1" dirty="0" err="1"/>
              <a:t>LLaMA</a:t>
            </a:r>
            <a:r>
              <a:rPr lang="en-IN" b="1" dirty="0"/>
              <a:t> Model Family (Meta AI)</a:t>
            </a:r>
            <a:r>
              <a:rPr lang="en-IN" dirty="0"/>
              <a:t> Open-weight models from 8B to 70B+ parameters that can be run via API at low cost. The diversity of sizes allows </a:t>
            </a:r>
            <a:r>
              <a:rPr lang="en-IN" dirty="0" err="1"/>
              <a:t>MeetingAI</a:t>
            </a:r>
            <a:r>
              <a:rPr lang="en-IN" dirty="0"/>
              <a:t> to assign each model a different role based on speed vs. depth trade-offs.</a:t>
            </a:r>
          </a:p>
          <a:p>
            <a:r>
              <a:rPr lang="en-IN" b="1" dirty="0"/>
              <a:t>🟡 Parallel API Inference</a:t>
            </a:r>
            <a:r>
              <a:rPr lang="en-IN" dirty="0"/>
              <a:t> Rather than calling three models one by one (sequential, slow), </a:t>
            </a:r>
            <a:r>
              <a:rPr lang="en-IN" dirty="0" err="1"/>
              <a:t>MeetingAI</a:t>
            </a:r>
            <a:r>
              <a:rPr lang="en-IN" dirty="0"/>
              <a:t> uses JavaScript's </a:t>
            </a:r>
            <a:r>
              <a:rPr lang="en-IN" dirty="0" err="1"/>
              <a:t>Promise.all</a:t>
            </a:r>
            <a:r>
              <a:rPr lang="en-IN" dirty="0"/>
              <a:t>() to fire all three simultaneously. Because each model has its own API quota, there is no rate limit conflict — just pure parallel speed.</a:t>
            </a:r>
          </a:p>
          <a:p>
            <a:r>
              <a:rPr lang="en-IN" b="1" dirty="0"/>
              <a:t>🔴 JWT + AES-256 Security Pattern</a:t>
            </a:r>
            <a:r>
              <a:rPr lang="en-IN" dirty="0"/>
              <a:t> Server-side API key storage encrypted with AES-256-CBC is becoming the industry standard, replacing the insecure browser-</a:t>
            </a:r>
            <a:r>
              <a:rPr lang="en-IN" dirty="0" err="1"/>
              <a:t>localStorage</a:t>
            </a:r>
            <a:r>
              <a:rPr lang="en-IN" dirty="0"/>
              <a:t> pattern previously common in developer tools.</a:t>
            </a:r>
          </a:p>
          <a:p>
            <a:r>
              <a:rPr lang="en-IN" b="1" dirty="0"/>
              <a:t>🟢 Auto-Deploy on Git Push (PaaS)</a:t>
            </a:r>
            <a:r>
              <a:rPr lang="en-IN" dirty="0"/>
              <a:t> Render.com watches the GitHub repository. Every git push triggers an automatic rebuild and redeploy — no manual server management, no downtime during updates.</a:t>
            </a:r>
          </a:p>
        </p:txBody>
      </p:sp>
      <p:sp>
        <p:nvSpPr>
          <p:cNvPr id="8" name="TextBox 7">
            <a:extLst>
              <a:ext uri="{FF2B5EF4-FFF2-40B4-BE49-F238E27FC236}">
                <a16:creationId xmlns:a16="http://schemas.microsoft.com/office/drawing/2014/main" id="{244E4579-2828-0D0C-53B1-1935E095DD3A}"/>
              </a:ext>
            </a:extLst>
          </p:cNvPr>
          <p:cNvSpPr txBox="1"/>
          <p:nvPr/>
        </p:nvSpPr>
        <p:spPr>
          <a:xfrm>
            <a:off x="3555547" y="325403"/>
            <a:ext cx="6098720" cy="461665"/>
          </a:xfrm>
          <a:prstGeom prst="rect">
            <a:avLst/>
          </a:prstGeom>
          <a:noFill/>
        </p:spPr>
        <p:txBody>
          <a:bodyPr wrap="square">
            <a:spAutoFit/>
          </a:bodyPr>
          <a:lstStyle/>
          <a:p>
            <a:pPr>
              <a:buNone/>
            </a:pPr>
            <a:r>
              <a:rPr lang="en-IN" sz="2400" b="1" i="0" dirty="0">
                <a:solidFill>
                  <a:srgbClr val="616161"/>
                </a:solidFill>
                <a:effectLst/>
                <a:latin typeface="ui-sans-serif"/>
              </a:rPr>
              <a:t>New Technologies and Trends</a:t>
            </a:r>
          </a:p>
        </p:txBody>
      </p:sp>
    </p:spTree>
    <p:extLst>
      <p:ext uri="{BB962C8B-B14F-4D97-AF65-F5344CB8AC3E}">
        <p14:creationId xmlns:p14="http://schemas.microsoft.com/office/powerpoint/2010/main" val="988504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31FBCF-2B7B-755E-C35D-6439527A99E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62E632C-B263-0B64-1A81-939349A7BC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52229BA7-8E90-B3B0-72A5-300488CB70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8D972EC6-C77F-F996-C3F0-8D3713DDD4AC}"/>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3BC319F9-1CDB-D91D-9F05-73DABBF6F91B}"/>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BEED481C-ACF1-469B-2811-E9C2E0A572D8}"/>
              </a:ext>
            </a:extLst>
          </p:cNvPr>
          <p:cNvSpPr txBox="1"/>
          <p:nvPr/>
        </p:nvSpPr>
        <p:spPr>
          <a:xfrm>
            <a:off x="4714875" y="314960"/>
            <a:ext cx="6098720" cy="461665"/>
          </a:xfrm>
          <a:prstGeom prst="rect">
            <a:avLst/>
          </a:prstGeom>
          <a:noFill/>
        </p:spPr>
        <p:txBody>
          <a:bodyPr wrap="square">
            <a:spAutoFit/>
          </a:bodyPr>
          <a:lstStyle/>
          <a:p>
            <a:pPr algn="l">
              <a:buNone/>
            </a:pPr>
            <a:r>
              <a:rPr lang="en-IN" sz="2400" b="1" i="0" dirty="0">
                <a:solidFill>
                  <a:srgbClr val="616161"/>
                </a:solidFill>
                <a:effectLst/>
                <a:latin typeface="ui-sans-serif"/>
              </a:rPr>
              <a:t>Research Gap</a:t>
            </a:r>
          </a:p>
        </p:txBody>
      </p:sp>
      <p:sp>
        <p:nvSpPr>
          <p:cNvPr id="8" name="TextBox 7">
            <a:extLst>
              <a:ext uri="{FF2B5EF4-FFF2-40B4-BE49-F238E27FC236}">
                <a16:creationId xmlns:a16="http://schemas.microsoft.com/office/drawing/2014/main" id="{B6E1D3BF-7FF6-4479-CDC7-189B3B98AFF8}"/>
              </a:ext>
            </a:extLst>
          </p:cNvPr>
          <p:cNvSpPr txBox="1"/>
          <p:nvPr/>
        </p:nvSpPr>
        <p:spPr>
          <a:xfrm>
            <a:off x="88710" y="1391374"/>
            <a:ext cx="12103290" cy="3693319"/>
          </a:xfrm>
          <a:prstGeom prst="rect">
            <a:avLst/>
          </a:prstGeom>
          <a:noFill/>
        </p:spPr>
        <p:txBody>
          <a:bodyPr wrap="square">
            <a:spAutoFit/>
          </a:bodyPr>
          <a:lstStyle/>
          <a:p>
            <a:pPr algn="l">
              <a:buNone/>
            </a:pPr>
            <a:r>
              <a:rPr lang="en-US" b="1" i="0" dirty="0">
                <a:solidFill>
                  <a:srgbClr val="616161"/>
                </a:solidFill>
                <a:effectLst/>
                <a:latin typeface="ui-sans-serif"/>
              </a:rPr>
              <a:t>1. Single-model assumption</a:t>
            </a:r>
            <a:r>
              <a:rPr lang="en-US" b="0" i="0" dirty="0">
                <a:solidFill>
                  <a:srgbClr val="616161"/>
                </a:solidFill>
                <a:effectLst/>
                <a:latin typeface="ui-sans-serif"/>
              </a:rPr>
              <a:t> Every reviewed paper tests one model at a time. Nobody has formally measured whether running three smaller models in parallel and merging their outputs beats one large model. </a:t>
            </a:r>
            <a:r>
              <a:rPr lang="en-US" b="0" i="0" dirty="0" err="1">
                <a:solidFill>
                  <a:srgbClr val="616161"/>
                </a:solidFill>
                <a:effectLst/>
                <a:latin typeface="ui-sans-serif"/>
              </a:rPr>
              <a:t>MeetingAI</a:t>
            </a:r>
            <a:r>
              <a:rPr lang="en-US" b="0" i="0" dirty="0">
                <a:solidFill>
                  <a:srgbClr val="616161"/>
                </a:solidFill>
                <a:effectLst/>
                <a:latin typeface="ui-sans-serif"/>
              </a:rPr>
              <a:t> implements this practically, but a controlled study is still missing.</a:t>
            </a:r>
          </a:p>
          <a:p>
            <a:pPr algn="l">
              <a:buNone/>
            </a:pPr>
            <a:r>
              <a:rPr lang="en-US" b="1" i="0" dirty="0">
                <a:solidFill>
                  <a:srgbClr val="616161"/>
                </a:solidFill>
                <a:effectLst/>
                <a:latin typeface="ui-sans-serif"/>
              </a:rPr>
              <a:t>2. No deployable product</a:t>
            </a:r>
            <a:r>
              <a:rPr lang="en-US" b="0" i="0" dirty="0">
                <a:solidFill>
                  <a:srgbClr val="616161"/>
                </a:solidFill>
                <a:effectLst/>
                <a:latin typeface="ui-sans-serif"/>
              </a:rPr>
              <a:t> Four of five papers have no web frontend — they exist as scripts or notebooks. The gap between research results and usable software is rarely addressed in the literature.</a:t>
            </a:r>
          </a:p>
          <a:p>
            <a:pPr algn="l">
              <a:buNone/>
            </a:pPr>
            <a:r>
              <a:rPr lang="en-US" b="1" i="0" dirty="0">
                <a:solidFill>
                  <a:srgbClr val="616161"/>
                </a:solidFill>
                <a:effectLst/>
                <a:latin typeface="ui-sans-serif"/>
              </a:rPr>
              <a:t>3. User credential security ignored</a:t>
            </a:r>
            <a:r>
              <a:rPr lang="en-US" b="0" i="0" dirty="0">
                <a:solidFill>
                  <a:srgbClr val="616161"/>
                </a:solidFill>
                <a:effectLst/>
                <a:latin typeface="ui-sans-serif"/>
              </a:rPr>
              <a:t> No reviewed paper discusses how API keys or user data should be stored in a multi-user deployment. </a:t>
            </a:r>
            <a:r>
              <a:rPr lang="en-US" b="0" i="0" dirty="0" err="1">
                <a:solidFill>
                  <a:srgbClr val="616161"/>
                </a:solidFill>
                <a:effectLst/>
                <a:latin typeface="ui-sans-serif"/>
              </a:rPr>
              <a:t>MeetingAI</a:t>
            </a:r>
            <a:r>
              <a:rPr lang="en-US" b="0" i="0" dirty="0">
                <a:solidFill>
                  <a:srgbClr val="616161"/>
                </a:solidFill>
                <a:effectLst/>
                <a:latin typeface="ui-sans-serif"/>
              </a:rPr>
              <a:t> handles this with encryption and JWTs, but the research community hasn't formalized best practices here.</a:t>
            </a:r>
          </a:p>
          <a:p>
            <a:pPr algn="l">
              <a:buNone/>
            </a:pPr>
            <a:r>
              <a:rPr lang="en-US" b="1" i="0" dirty="0">
                <a:solidFill>
                  <a:srgbClr val="616161"/>
                </a:solidFill>
                <a:effectLst/>
                <a:latin typeface="ui-sans-serif"/>
              </a:rPr>
              <a:t>4. Style-aware summarization underexplored</a:t>
            </a:r>
            <a:r>
              <a:rPr lang="en-US" b="0" i="0" dirty="0">
                <a:solidFill>
                  <a:srgbClr val="616161"/>
                </a:solidFill>
                <a:effectLst/>
                <a:latin typeface="ui-sans-serif"/>
              </a:rPr>
              <a:t> Existing work produces one canonical summary per transcript. Creating fundamentally different output formats (action items vs. flashcards vs. email draft vs. sentiment analysis) from the same content based on user intent is largely unexplored.</a:t>
            </a:r>
          </a:p>
          <a:p>
            <a:pPr algn="l">
              <a:buNone/>
            </a:pPr>
            <a:r>
              <a:rPr lang="en-US" b="1" i="0" dirty="0">
                <a:solidFill>
                  <a:srgbClr val="616161"/>
                </a:solidFill>
                <a:effectLst/>
                <a:latin typeface="ui-sans-serif"/>
              </a:rPr>
              <a:t>5. Speaker attribution missing</a:t>
            </a:r>
            <a:r>
              <a:rPr lang="en-US" b="0" i="0" dirty="0">
                <a:solidFill>
                  <a:srgbClr val="616161"/>
                </a:solidFill>
                <a:effectLst/>
                <a:latin typeface="ui-sans-serif"/>
              </a:rPr>
              <a:t> Whisper transcribes words but cannot identify who said them. All reviewed papers share this limitation — knowing that "Alice agreed" vs. "Bob disagreed" requires </a:t>
            </a:r>
            <a:r>
              <a:rPr lang="en-US" b="0" i="0" dirty="0" err="1">
                <a:solidFill>
                  <a:srgbClr val="616161"/>
                </a:solidFill>
                <a:effectLst/>
                <a:latin typeface="ui-sans-serif"/>
              </a:rPr>
              <a:t>diarization</a:t>
            </a:r>
            <a:r>
              <a:rPr lang="en-US" b="0" i="0" dirty="0">
                <a:solidFill>
                  <a:srgbClr val="616161"/>
                </a:solidFill>
                <a:effectLst/>
                <a:latin typeface="ui-sans-serif"/>
              </a:rPr>
              <a:t>, which none implement with a web interface.</a:t>
            </a:r>
          </a:p>
        </p:txBody>
      </p:sp>
    </p:spTree>
    <p:extLst>
      <p:ext uri="{BB962C8B-B14F-4D97-AF65-F5344CB8AC3E}">
        <p14:creationId xmlns:p14="http://schemas.microsoft.com/office/powerpoint/2010/main" val="3960160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D1B928-F0DB-A762-C0F6-8E2F206E341F}"/>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94F0966-63EA-BE6D-9DAD-ED89984B5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CEB71BF9-AE37-2EE4-C6C9-B747DE405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61F44F89-4150-0E58-3616-AD3ED43E6569}"/>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976A0B07-E75A-4DE8-EF0F-7B3B54BDF923}"/>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962656AA-8C4A-BF43-E486-BD8289D4089A}"/>
              </a:ext>
            </a:extLst>
          </p:cNvPr>
          <p:cNvSpPr txBox="1"/>
          <p:nvPr/>
        </p:nvSpPr>
        <p:spPr>
          <a:xfrm>
            <a:off x="3490232" y="314960"/>
            <a:ext cx="6098720" cy="461665"/>
          </a:xfrm>
          <a:prstGeom prst="rect">
            <a:avLst/>
          </a:prstGeom>
          <a:noFill/>
        </p:spPr>
        <p:txBody>
          <a:bodyPr wrap="square">
            <a:spAutoFit/>
          </a:bodyPr>
          <a:lstStyle/>
          <a:p>
            <a:pPr algn="l">
              <a:buNone/>
            </a:pPr>
            <a:r>
              <a:rPr lang="en-IN" sz="2400" b="1" i="0">
                <a:solidFill>
                  <a:srgbClr val="616161"/>
                </a:solidFill>
                <a:effectLst/>
                <a:latin typeface="ui-sans-serif"/>
              </a:rPr>
              <a:t> Advantages and Disadvantages</a:t>
            </a:r>
            <a:endParaRPr lang="en-IN" sz="2400" b="1" i="0" dirty="0">
              <a:solidFill>
                <a:srgbClr val="616161"/>
              </a:solidFill>
              <a:effectLst/>
              <a:latin typeface="ui-sans-serif"/>
            </a:endParaRPr>
          </a:p>
        </p:txBody>
      </p:sp>
      <p:sp>
        <p:nvSpPr>
          <p:cNvPr id="8" name="TextBox 7">
            <a:extLst>
              <a:ext uri="{FF2B5EF4-FFF2-40B4-BE49-F238E27FC236}">
                <a16:creationId xmlns:a16="http://schemas.microsoft.com/office/drawing/2014/main" id="{9E402607-3E33-B5E5-F6AD-7CF0BFC38E9E}"/>
              </a:ext>
            </a:extLst>
          </p:cNvPr>
          <p:cNvSpPr txBox="1"/>
          <p:nvPr/>
        </p:nvSpPr>
        <p:spPr>
          <a:xfrm>
            <a:off x="408214" y="1443841"/>
            <a:ext cx="12573000" cy="4001095"/>
          </a:xfrm>
          <a:prstGeom prst="rect">
            <a:avLst/>
          </a:prstGeom>
          <a:noFill/>
        </p:spPr>
        <p:txBody>
          <a:bodyPr wrap="square">
            <a:spAutoFit/>
          </a:bodyPr>
          <a:lstStyle/>
          <a:p>
            <a:pPr algn="l">
              <a:buNone/>
            </a:pPr>
            <a:r>
              <a:rPr lang="en-US" sz="2000" b="1" i="0" u="sng" dirty="0">
                <a:solidFill>
                  <a:srgbClr val="616161"/>
                </a:solidFill>
                <a:effectLst/>
                <a:latin typeface="ui-sans-serif"/>
              </a:rPr>
              <a:t> Advantages</a:t>
            </a:r>
          </a:p>
          <a:p>
            <a:pPr algn="l">
              <a:buFont typeface="Arial" panose="020B0604020202020204" pitchFamily="34" charset="0"/>
              <a:buChar char="•"/>
            </a:pPr>
            <a:r>
              <a:rPr lang="en-US" b="1" i="0" dirty="0">
                <a:solidFill>
                  <a:srgbClr val="616161"/>
                </a:solidFill>
                <a:effectLst/>
                <a:latin typeface="ui-sans-serif"/>
              </a:rPr>
              <a:t>Speed:</a:t>
            </a:r>
            <a:r>
              <a:rPr lang="en-US" b="0" i="0" dirty="0">
                <a:solidFill>
                  <a:srgbClr val="616161"/>
                </a:solidFill>
                <a:effectLst/>
                <a:latin typeface="ui-sans-serif"/>
              </a:rPr>
              <a:t> Three models in parallel → results in 2–4 seconds for medium transcripts</a:t>
            </a:r>
          </a:p>
          <a:p>
            <a:pPr algn="l">
              <a:buFont typeface="Arial" panose="020B0604020202020204" pitchFamily="34" charset="0"/>
              <a:buChar char="•"/>
            </a:pPr>
            <a:r>
              <a:rPr lang="en-US" b="1" i="0" dirty="0">
                <a:solidFill>
                  <a:srgbClr val="616161"/>
                </a:solidFill>
                <a:effectLst/>
                <a:latin typeface="ui-sans-serif"/>
              </a:rPr>
              <a:t>Quality:</a:t>
            </a:r>
            <a:r>
              <a:rPr lang="en-US" b="0" i="0" dirty="0">
                <a:solidFill>
                  <a:srgbClr val="616161"/>
                </a:solidFill>
                <a:effectLst/>
                <a:latin typeface="ui-sans-serif"/>
              </a:rPr>
              <a:t> Three different analytical perspectives merged → fewer missed details</a:t>
            </a:r>
          </a:p>
          <a:p>
            <a:pPr algn="l">
              <a:buFont typeface="Arial" panose="020B0604020202020204" pitchFamily="34" charset="0"/>
              <a:buChar char="•"/>
            </a:pPr>
            <a:r>
              <a:rPr lang="en-US" b="1" i="0" dirty="0">
                <a:solidFill>
                  <a:srgbClr val="616161"/>
                </a:solidFill>
                <a:effectLst/>
                <a:latin typeface="ui-sans-serif"/>
              </a:rPr>
              <a:t>Flexibility:</a:t>
            </a:r>
            <a:r>
              <a:rPr lang="en-US" b="0" i="0" dirty="0">
                <a:solidFill>
                  <a:srgbClr val="616161"/>
                </a:solidFill>
                <a:effectLst/>
                <a:latin typeface="ui-sans-serif"/>
              </a:rPr>
              <a:t> 15 summary styles × 10 source types = 150 possible output formats</a:t>
            </a:r>
          </a:p>
          <a:p>
            <a:pPr algn="l">
              <a:buFont typeface="Arial" panose="020B0604020202020204" pitchFamily="34" charset="0"/>
              <a:buChar char="•"/>
            </a:pPr>
            <a:r>
              <a:rPr lang="en-US" b="1" i="0" dirty="0">
                <a:solidFill>
                  <a:srgbClr val="616161"/>
                </a:solidFill>
                <a:effectLst/>
                <a:latin typeface="ui-sans-serif"/>
              </a:rPr>
              <a:t>Security:</a:t>
            </a:r>
            <a:r>
              <a:rPr lang="en-US" b="0" i="0" dirty="0">
                <a:solidFill>
                  <a:srgbClr val="616161"/>
                </a:solidFill>
                <a:effectLst/>
                <a:latin typeface="ui-sans-serif"/>
              </a:rPr>
              <a:t> AES-256 key encryption + JWT auth + </a:t>
            </a:r>
            <a:r>
              <a:rPr lang="en-US" b="0" i="0" dirty="0" err="1">
                <a:solidFill>
                  <a:srgbClr val="616161"/>
                </a:solidFill>
                <a:effectLst/>
                <a:latin typeface="ui-sans-serif"/>
              </a:rPr>
              <a:t>bcrypt</a:t>
            </a:r>
            <a:r>
              <a:rPr lang="en-US" b="0" i="0" dirty="0">
                <a:solidFill>
                  <a:srgbClr val="616161"/>
                </a:solidFill>
                <a:effectLst/>
                <a:latin typeface="ui-sans-serif"/>
              </a:rPr>
              <a:t> passwords — no credentials in browser</a:t>
            </a:r>
          </a:p>
          <a:p>
            <a:pPr algn="l">
              <a:buFont typeface="Arial" panose="020B0604020202020204" pitchFamily="34" charset="0"/>
              <a:buChar char="•"/>
            </a:pPr>
            <a:r>
              <a:rPr lang="en-US" b="1" i="0" dirty="0">
                <a:solidFill>
                  <a:srgbClr val="616161"/>
                </a:solidFill>
                <a:effectLst/>
                <a:latin typeface="ui-sans-serif"/>
              </a:rPr>
              <a:t>Zero cost to operator:</a:t>
            </a:r>
            <a:r>
              <a:rPr lang="en-US" b="0" i="0" dirty="0">
                <a:solidFill>
                  <a:srgbClr val="616161"/>
                </a:solidFill>
                <a:effectLst/>
                <a:latin typeface="ui-sans-serif"/>
              </a:rPr>
              <a:t> Every user supplies their own </a:t>
            </a:r>
            <a:r>
              <a:rPr lang="en-US" b="0" i="0" dirty="0" err="1">
                <a:solidFill>
                  <a:srgbClr val="616161"/>
                </a:solidFill>
                <a:effectLst/>
                <a:latin typeface="ui-sans-serif"/>
              </a:rPr>
              <a:t>Groq</a:t>
            </a:r>
            <a:r>
              <a:rPr lang="en-US" b="0" i="0" dirty="0">
                <a:solidFill>
                  <a:srgbClr val="616161"/>
                </a:solidFill>
                <a:effectLst/>
                <a:latin typeface="ui-sans-serif"/>
              </a:rPr>
              <a:t> key — hosting cost is just the server</a:t>
            </a:r>
          </a:p>
          <a:p>
            <a:pPr algn="l">
              <a:buFont typeface="Arial" panose="020B0604020202020204" pitchFamily="34" charset="0"/>
              <a:buChar char="•"/>
            </a:pPr>
            <a:r>
              <a:rPr lang="en-US" b="1" i="0" dirty="0">
                <a:solidFill>
                  <a:srgbClr val="616161"/>
                </a:solidFill>
                <a:effectLst/>
                <a:latin typeface="ui-sans-serif"/>
              </a:rPr>
              <a:t>Global access:</a:t>
            </a:r>
            <a:r>
              <a:rPr lang="en-US" b="0" i="0" dirty="0">
                <a:solidFill>
                  <a:srgbClr val="616161"/>
                </a:solidFill>
                <a:effectLst/>
                <a:latin typeface="ui-sans-serif"/>
              </a:rPr>
              <a:t> Deployed on Render.com — works from any device, anywhere</a:t>
            </a:r>
          </a:p>
          <a:p>
            <a:pPr algn="l">
              <a:buNone/>
            </a:pPr>
            <a:r>
              <a:rPr lang="en-US" sz="2000" b="1" i="0" u="sng" dirty="0">
                <a:solidFill>
                  <a:srgbClr val="616161"/>
                </a:solidFill>
                <a:effectLst/>
                <a:latin typeface="ui-sans-serif"/>
              </a:rPr>
              <a:t> Disadvantages</a:t>
            </a:r>
          </a:p>
          <a:p>
            <a:pPr algn="l">
              <a:buFont typeface="Arial" panose="020B0604020202020204" pitchFamily="34" charset="0"/>
              <a:buChar char="•"/>
            </a:pPr>
            <a:r>
              <a:rPr lang="en-US" b="1" i="0" dirty="0" err="1">
                <a:solidFill>
                  <a:srgbClr val="616161"/>
                </a:solidFill>
                <a:effectLst/>
                <a:latin typeface="ui-sans-serif"/>
              </a:rPr>
              <a:t>Groq</a:t>
            </a:r>
            <a:r>
              <a:rPr lang="en-US" b="1" i="0" dirty="0">
                <a:solidFill>
                  <a:srgbClr val="616161"/>
                </a:solidFill>
                <a:effectLst/>
                <a:latin typeface="ui-sans-serif"/>
              </a:rPr>
              <a:t> dependency:</a:t>
            </a:r>
            <a:r>
              <a:rPr lang="en-US" b="0" i="0" dirty="0">
                <a:solidFill>
                  <a:srgbClr val="616161"/>
                </a:solidFill>
                <a:effectLst/>
                <a:latin typeface="ui-sans-serif"/>
              </a:rPr>
              <a:t> If </a:t>
            </a:r>
            <a:r>
              <a:rPr lang="en-US" b="0" i="0" dirty="0" err="1">
                <a:solidFill>
                  <a:srgbClr val="616161"/>
                </a:solidFill>
                <a:effectLst/>
                <a:latin typeface="ui-sans-serif"/>
              </a:rPr>
              <a:t>Groq's</a:t>
            </a:r>
            <a:r>
              <a:rPr lang="en-US" b="0" i="0" dirty="0">
                <a:solidFill>
                  <a:srgbClr val="616161"/>
                </a:solidFill>
                <a:effectLst/>
                <a:latin typeface="ui-sans-serif"/>
              </a:rPr>
              <a:t> API is down, the entire application stops working</a:t>
            </a:r>
          </a:p>
          <a:p>
            <a:pPr algn="l">
              <a:buFont typeface="Arial" panose="020B0604020202020204" pitchFamily="34" charset="0"/>
              <a:buChar char="•"/>
            </a:pPr>
            <a:r>
              <a:rPr lang="en-US" b="1" i="0" dirty="0">
                <a:solidFill>
                  <a:srgbClr val="616161"/>
                </a:solidFill>
                <a:effectLst/>
                <a:latin typeface="ui-sans-serif"/>
              </a:rPr>
              <a:t>No speaker identification:</a:t>
            </a:r>
            <a:r>
              <a:rPr lang="en-US" b="0" i="0" dirty="0">
                <a:solidFill>
                  <a:srgbClr val="616161"/>
                </a:solidFill>
                <a:effectLst/>
                <a:latin typeface="ui-sans-serif"/>
              </a:rPr>
              <a:t> Cannot attribute speech to individual participants</a:t>
            </a:r>
          </a:p>
          <a:p>
            <a:pPr algn="l">
              <a:buFont typeface="Arial" panose="020B0604020202020204" pitchFamily="34" charset="0"/>
              <a:buChar char="•"/>
            </a:pPr>
            <a:r>
              <a:rPr lang="en-US" b="1" i="0" dirty="0">
                <a:solidFill>
                  <a:srgbClr val="616161"/>
                </a:solidFill>
                <a:effectLst/>
                <a:latin typeface="ui-sans-serif"/>
              </a:rPr>
              <a:t>SQLite limitation:</a:t>
            </a:r>
            <a:r>
              <a:rPr lang="en-US" b="0" i="0" dirty="0">
                <a:solidFill>
                  <a:srgbClr val="616161"/>
                </a:solidFill>
                <a:effectLst/>
                <a:latin typeface="ui-sans-serif"/>
              </a:rPr>
              <a:t> Does not support multiple server instances — scaling requires PostgreSQL</a:t>
            </a:r>
          </a:p>
          <a:p>
            <a:pPr algn="l">
              <a:buFont typeface="Arial" panose="020B0604020202020204" pitchFamily="34" charset="0"/>
              <a:buChar char="•"/>
            </a:pPr>
            <a:r>
              <a:rPr lang="en-US" b="1" i="0" dirty="0">
                <a:solidFill>
                  <a:srgbClr val="616161"/>
                </a:solidFill>
                <a:effectLst/>
                <a:latin typeface="ui-sans-serif"/>
              </a:rPr>
              <a:t>Cold starts on free tier:</a:t>
            </a:r>
            <a:r>
              <a:rPr lang="en-US" b="0" i="0" dirty="0">
                <a:solidFill>
                  <a:srgbClr val="616161"/>
                </a:solidFill>
                <a:effectLst/>
                <a:latin typeface="ui-sans-serif"/>
              </a:rPr>
              <a:t> Server sleeps after 15 minutes — first visitor waits 30–60 seconds</a:t>
            </a:r>
          </a:p>
          <a:p>
            <a:pPr algn="l">
              <a:buFont typeface="Arial" panose="020B0604020202020204" pitchFamily="34" charset="0"/>
              <a:buChar char="•"/>
            </a:pPr>
            <a:r>
              <a:rPr lang="en-US" b="1" i="0" dirty="0">
                <a:solidFill>
                  <a:srgbClr val="616161"/>
                </a:solidFill>
                <a:effectLst/>
                <a:latin typeface="ui-sans-serif"/>
              </a:rPr>
              <a:t>Quality unvalidated:</a:t>
            </a:r>
            <a:r>
              <a:rPr lang="en-US" b="0" i="0" dirty="0">
                <a:solidFill>
                  <a:srgbClr val="616161"/>
                </a:solidFill>
                <a:effectLst/>
                <a:latin typeface="ui-sans-serif"/>
              </a:rPr>
              <a:t> No formal metric confirms merged output is better than single-model output</a:t>
            </a:r>
          </a:p>
          <a:p>
            <a:pPr algn="l">
              <a:buFont typeface="Arial" panose="020B0604020202020204" pitchFamily="34" charset="0"/>
              <a:buChar char="•"/>
            </a:pPr>
            <a:r>
              <a:rPr lang="en-US" b="1" i="0" dirty="0">
                <a:solidFill>
                  <a:srgbClr val="616161"/>
                </a:solidFill>
                <a:effectLst/>
                <a:latin typeface="ui-sans-serif"/>
              </a:rPr>
              <a:t>Internet required:</a:t>
            </a:r>
            <a:r>
              <a:rPr lang="en-US" b="0" i="0" dirty="0">
                <a:solidFill>
                  <a:srgbClr val="616161"/>
                </a:solidFill>
                <a:effectLst/>
                <a:latin typeface="ui-sans-serif"/>
              </a:rPr>
              <a:t> No offline mode — both transcription and analysis need API access</a:t>
            </a:r>
          </a:p>
        </p:txBody>
      </p:sp>
    </p:spTree>
    <p:extLst>
      <p:ext uri="{BB962C8B-B14F-4D97-AF65-F5344CB8AC3E}">
        <p14:creationId xmlns:p14="http://schemas.microsoft.com/office/powerpoint/2010/main" val="858911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F87065-9536-E398-4FBA-C7F20DF5778B}"/>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641112C-31EA-8E64-34FF-6189D11C6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8E41AF9A-9CAF-7AA1-1015-67F1FA8DD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3C3C3229-84EF-7D03-7CFD-3E50C34A24B7}"/>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63F0F63B-DF33-00C3-81B0-323ACCE58FCD}"/>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0486FE49-0D68-CD42-7324-A78438DE485C}"/>
              </a:ext>
            </a:extLst>
          </p:cNvPr>
          <p:cNvSpPr txBox="1"/>
          <p:nvPr/>
        </p:nvSpPr>
        <p:spPr>
          <a:xfrm>
            <a:off x="2559504" y="629920"/>
            <a:ext cx="6098720" cy="461665"/>
          </a:xfrm>
          <a:prstGeom prst="rect">
            <a:avLst/>
          </a:prstGeom>
          <a:noFill/>
        </p:spPr>
        <p:txBody>
          <a:bodyPr wrap="square">
            <a:spAutoFit/>
          </a:bodyPr>
          <a:lstStyle/>
          <a:p>
            <a:pPr algn="ctr">
              <a:buNone/>
            </a:pPr>
            <a:r>
              <a:rPr lang="en-IN" sz="2400" b="1" i="0" dirty="0">
                <a:solidFill>
                  <a:srgbClr val="616161"/>
                </a:solidFill>
                <a:effectLst/>
                <a:latin typeface="ui-sans-serif"/>
              </a:rPr>
              <a:t>Conclusion</a:t>
            </a:r>
          </a:p>
        </p:txBody>
      </p:sp>
      <p:sp>
        <p:nvSpPr>
          <p:cNvPr id="8" name="TextBox 7">
            <a:extLst>
              <a:ext uri="{FF2B5EF4-FFF2-40B4-BE49-F238E27FC236}">
                <a16:creationId xmlns:a16="http://schemas.microsoft.com/office/drawing/2014/main" id="{DCA8B18B-7A54-7B40-FCC7-8156CC8066B1}"/>
              </a:ext>
            </a:extLst>
          </p:cNvPr>
          <p:cNvSpPr txBox="1"/>
          <p:nvPr/>
        </p:nvSpPr>
        <p:spPr>
          <a:xfrm>
            <a:off x="440871" y="1770491"/>
            <a:ext cx="11870871" cy="3416320"/>
          </a:xfrm>
          <a:prstGeom prst="rect">
            <a:avLst/>
          </a:prstGeom>
          <a:noFill/>
        </p:spPr>
        <p:txBody>
          <a:bodyPr wrap="square">
            <a:spAutoFit/>
          </a:bodyPr>
          <a:lstStyle/>
          <a:p>
            <a:pPr algn="l">
              <a:buNone/>
            </a:pPr>
            <a:r>
              <a:rPr lang="en-US" b="1" i="0" dirty="0">
                <a:solidFill>
                  <a:srgbClr val="616161"/>
                </a:solidFill>
                <a:effectLst/>
                <a:latin typeface="ui-sans-serif"/>
              </a:rPr>
              <a:t>What We Built:</a:t>
            </a:r>
            <a:r>
              <a:rPr lang="en-US" b="0" i="0" dirty="0">
                <a:solidFill>
                  <a:srgbClr val="616161"/>
                </a:solidFill>
                <a:effectLst/>
                <a:latin typeface="ui-sans-serif"/>
              </a:rPr>
              <a:t> </a:t>
            </a:r>
            <a:r>
              <a:rPr lang="en-US" b="0" i="0" dirty="0" err="1">
                <a:solidFill>
                  <a:srgbClr val="616161"/>
                </a:solidFill>
                <a:effectLst/>
                <a:latin typeface="ui-sans-serif"/>
              </a:rPr>
              <a:t>MeetingAI</a:t>
            </a:r>
            <a:r>
              <a:rPr lang="en-US" b="0" i="0" dirty="0">
                <a:solidFill>
                  <a:srgbClr val="616161"/>
                </a:solidFill>
                <a:effectLst/>
                <a:latin typeface="ui-sans-serif"/>
              </a:rPr>
              <a:t> is a production-deployed web application that turns any audio recording into structured, styled summaries using three large language models working simultaneously. Users can log in, store their API key once securely, upload audio, and receive a detailed summary in seconds — from any browser, anywhere.</a:t>
            </a:r>
          </a:p>
          <a:p>
            <a:pPr algn="l">
              <a:buNone/>
            </a:pPr>
            <a:r>
              <a:rPr lang="en-US" b="1" i="0" dirty="0">
                <a:solidFill>
                  <a:srgbClr val="616161"/>
                </a:solidFill>
                <a:effectLst/>
                <a:latin typeface="ui-sans-serif"/>
              </a:rPr>
              <a:t>Key Insights from the Literature Review:</a:t>
            </a:r>
            <a:endParaRPr lang="en-US" b="0" i="0" dirty="0">
              <a:solidFill>
                <a:srgbClr val="616161"/>
              </a:solidFill>
              <a:effectLst/>
              <a:latin typeface="ui-sans-serif"/>
            </a:endParaRPr>
          </a:p>
          <a:p>
            <a:pPr algn="l">
              <a:buFont typeface="Arial" panose="020B0604020202020204" pitchFamily="34" charset="0"/>
              <a:buChar char="•"/>
            </a:pPr>
            <a:r>
              <a:rPr lang="en-US" b="0" i="0" dirty="0">
                <a:solidFill>
                  <a:srgbClr val="616161"/>
                </a:solidFill>
                <a:effectLst/>
                <a:latin typeface="ui-sans-serif"/>
              </a:rPr>
              <a:t>Whisper is the clear standard for accessible, high-accuracy transcription</a:t>
            </a:r>
          </a:p>
          <a:p>
            <a:pPr algn="l">
              <a:buFont typeface="Arial" panose="020B0604020202020204" pitchFamily="34" charset="0"/>
              <a:buChar char="•"/>
            </a:pPr>
            <a:r>
              <a:rPr lang="en-US" b="0" i="0" dirty="0">
                <a:solidFill>
                  <a:srgbClr val="616161"/>
                </a:solidFill>
                <a:effectLst/>
                <a:latin typeface="ui-sans-serif"/>
              </a:rPr>
              <a:t>LLM-based refinement (Self-Refine, two-pass correction) consistently improves summary quality</a:t>
            </a:r>
          </a:p>
          <a:p>
            <a:pPr algn="l">
              <a:buFont typeface="Arial" panose="020B0604020202020204" pitchFamily="34" charset="0"/>
              <a:buChar char="•"/>
            </a:pPr>
            <a:r>
              <a:rPr lang="en-US" b="0" i="0" dirty="0">
                <a:solidFill>
                  <a:srgbClr val="616161"/>
                </a:solidFill>
                <a:effectLst/>
                <a:latin typeface="ui-sans-serif"/>
              </a:rPr>
              <a:t>Domain-specific and style-aware summarization is more useful than generic outputs</a:t>
            </a:r>
          </a:p>
          <a:p>
            <a:pPr algn="l">
              <a:buFont typeface="Arial" panose="020B0604020202020204" pitchFamily="34" charset="0"/>
              <a:buChar char="•"/>
            </a:pPr>
            <a:r>
              <a:rPr lang="en-US" b="0" i="0" dirty="0">
                <a:solidFill>
                  <a:srgbClr val="616161"/>
                </a:solidFill>
                <a:effectLst/>
                <a:latin typeface="ui-sans-serif"/>
              </a:rPr>
              <a:t>The gap between research prototypes and real products is significant — deployment matters</a:t>
            </a:r>
          </a:p>
          <a:p>
            <a:pPr algn="l">
              <a:buNone/>
            </a:pPr>
            <a:r>
              <a:rPr lang="en-US" b="1" i="0" dirty="0">
                <a:solidFill>
                  <a:srgbClr val="616161"/>
                </a:solidFill>
                <a:effectLst/>
                <a:latin typeface="ui-sans-serif"/>
              </a:rPr>
              <a:t>What </a:t>
            </a:r>
            <a:r>
              <a:rPr lang="en-US" b="1" i="0" dirty="0" err="1">
                <a:solidFill>
                  <a:srgbClr val="616161"/>
                </a:solidFill>
                <a:effectLst/>
                <a:latin typeface="ui-sans-serif"/>
              </a:rPr>
              <a:t>MeetingAI</a:t>
            </a:r>
            <a:r>
              <a:rPr lang="en-US" b="1" i="0" dirty="0">
                <a:solidFill>
                  <a:srgbClr val="616161"/>
                </a:solidFill>
                <a:effectLst/>
                <a:latin typeface="ui-sans-serif"/>
              </a:rPr>
              <a:t> Adds Beyond the Literature:</a:t>
            </a:r>
            <a:r>
              <a:rPr lang="en-US" b="0" i="0" dirty="0">
                <a:solidFill>
                  <a:srgbClr val="616161"/>
                </a:solidFill>
                <a:effectLst/>
                <a:latin typeface="ui-sans-serif"/>
              </a:rPr>
              <a:t> Three-model parallel inference · 15 summary styles · Live deployment · Secure auth + encrypted key storage · Summary history per user</a:t>
            </a:r>
          </a:p>
          <a:p>
            <a:pPr algn="l">
              <a:buNone/>
            </a:pPr>
            <a:r>
              <a:rPr lang="en-US" b="1" i="0" dirty="0">
                <a:solidFill>
                  <a:srgbClr val="616161"/>
                </a:solidFill>
                <a:effectLst/>
                <a:latin typeface="ui-sans-serif"/>
              </a:rPr>
              <a:t>Future Scope:</a:t>
            </a:r>
            <a:r>
              <a:rPr lang="en-US" b="0" i="0" dirty="0">
                <a:solidFill>
                  <a:srgbClr val="616161"/>
                </a:solidFill>
                <a:effectLst/>
                <a:latin typeface="ui-sans-serif"/>
              </a:rPr>
              <a:t> → Speaker </a:t>
            </a:r>
            <a:r>
              <a:rPr lang="en-US" b="0" i="0" dirty="0" err="1">
                <a:solidFill>
                  <a:srgbClr val="616161"/>
                </a:solidFill>
                <a:effectLst/>
                <a:latin typeface="ui-sans-serif"/>
              </a:rPr>
              <a:t>diarization</a:t>
            </a:r>
            <a:r>
              <a:rPr lang="en-US" b="0" i="0" dirty="0">
                <a:solidFill>
                  <a:srgbClr val="616161"/>
                </a:solidFill>
                <a:effectLst/>
                <a:latin typeface="ui-sans-serif"/>
              </a:rPr>
              <a:t> (who said what) → PostgreSQL for multi-instance scalability → Real-time live transcription via WebSocket → Export to PDF, DOCX, and Notion → Formal user study to validate multi-model merge quality</a:t>
            </a:r>
          </a:p>
        </p:txBody>
      </p:sp>
    </p:spTree>
    <p:extLst>
      <p:ext uri="{BB962C8B-B14F-4D97-AF65-F5344CB8AC3E}">
        <p14:creationId xmlns:p14="http://schemas.microsoft.com/office/powerpoint/2010/main" val="1076632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D5CD7B-F41B-2CDC-5FBF-60B2EBC85A1D}"/>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194578E8-0564-EC43-DC08-820DB4B38F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9" name="Freeform: Shape 8">
            <a:extLst>
              <a:ext uri="{FF2B5EF4-FFF2-40B4-BE49-F238E27FC236}">
                <a16:creationId xmlns:a16="http://schemas.microsoft.com/office/drawing/2014/main" id="{D16CD518-391C-C059-CFD6-76A39BDFB4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983504" cy="6858000"/>
          </a:xfrm>
          <a:custGeom>
            <a:avLst/>
            <a:gdLst>
              <a:gd name="connsiteX0" fmla="*/ 0 w 1983504"/>
              <a:gd name="connsiteY0" fmla="*/ 0 h 6858000"/>
              <a:gd name="connsiteX1" fmla="*/ 1376658 w 1983504"/>
              <a:gd name="connsiteY1" fmla="*/ 0 h 6858000"/>
              <a:gd name="connsiteX2" fmla="*/ 1690650 w 1983504"/>
              <a:gd name="connsiteY2" fmla="*/ 110269 h 6858000"/>
              <a:gd name="connsiteX3" fmla="*/ 1645361 w 1983504"/>
              <a:gd name="connsiteY3" fmla="*/ 135168 h 6858000"/>
              <a:gd name="connsiteX4" fmla="*/ 1373640 w 1983504"/>
              <a:gd name="connsiteY4" fmla="*/ 71141 h 6858000"/>
              <a:gd name="connsiteX5" fmla="*/ 1319295 w 1983504"/>
              <a:gd name="connsiteY5" fmla="*/ 88927 h 6858000"/>
              <a:gd name="connsiteX6" fmla="*/ 1346468 w 1983504"/>
              <a:gd name="connsiteY6" fmla="*/ 163625 h 6858000"/>
              <a:gd name="connsiteX7" fmla="*/ 1464213 w 1983504"/>
              <a:gd name="connsiteY7" fmla="*/ 192082 h 6858000"/>
              <a:gd name="connsiteX8" fmla="*/ 1648381 w 1983504"/>
              <a:gd name="connsiteY8" fmla="*/ 373491 h 6858000"/>
              <a:gd name="connsiteX9" fmla="*/ 1370620 w 1983504"/>
              <a:gd name="connsiteY9" fmla="*/ 352148 h 6858000"/>
              <a:gd name="connsiteX10" fmla="*/ 1322314 w 1983504"/>
              <a:gd name="connsiteY10" fmla="*/ 394834 h 6858000"/>
              <a:gd name="connsiteX11" fmla="*/ 1304199 w 1983504"/>
              <a:gd name="connsiteY11" fmla="*/ 451747 h 6858000"/>
              <a:gd name="connsiteX12" fmla="*/ 1222682 w 1983504"/>
              <a:gd name="connsiteY12" fmla="*/ 359262 h 6858000"/>
              <a:gd name="connsiteX13" fmla="*/ 1153242 w 1983504"/>
              <a:gd name="connsiteY13" fmla="*/ 334364 h 6858000"/>
              <a:gd name="connsiteX14" fmla="*/ 1132108 w 1983504"/>
              <a:gd name="connsiteY14" fmla="*/ 416176 h 6858000"/>
              <a:gd name="connsiteX15" fmla="*/ 1195509 w 1983504"/>
              <a:gd name="connsiteY15" fmla="*/ 505101 h 6858000"/>
              <a:gd name="connsiteX16" fmla="*/ 1364582 w 1983504"/>
              <a:gd name="connsiteY16" fmla="*/ 558458 h 6858000"/>
              <a:gd name="connsiteX17" fmla="*/ 1183434 w 1983504"/>
              <a:gd name="connsiteY17" fmla="*/ 558458 h 6858000"/>
              <a:gd name="connsiteX18" fmla="*/ 975114 w 1983504"/>
              <a:gd name="connsiteY18" fmla="*/ 522887 h 6858000"/>
              <a:gd name="connsiteX19" fmla="*/ 754716 w 1983504"/>
              <a:gd name="connsiteY19" fmla="*/ 533558 h 6858000"/>
              <a:gd name="connsiteX20" fmla="*/ 546395 w 1983504"/>
              <a:gd name="connsiteY20" fmla="*/ 462417 h 6858000"/>
              <a:gd name="connsiteX21" fmla="*/ 335056 w 1983504"/>
              <a:gd name="connsiteY21" fmla="*/ 465975 h 6858000"/>
              <a:gd name="connsiteX22" fmla="*/ 1270988 w 1983504"/>
              <a:gd name="connsiteY22" fmla="*/ 910606 h 6858000"/>
              <a:gd name="connsiteX23" fmla="*/ 1225701 w 1983504"/>
              <a:gd name="connsiteY23" fmla="*/ 921277 h 6858000"/>
              <a:gd name="connsiteX24" fmla="*/ 1165318 w 1983504"/>
              <a:gd name="connsiteY24" fmla="*/ 949734 h 6858000"/>
              <a:gd name="connsiteX25" fmla="*/ 1210606 w 1983504"/>
              <a:gd name="connsiteY25" fmla="*/ 1006647 h 6858000"/>
              <a:gd name="connsiteX26" fmla="*/ 1455156 w 1983504"/>
              <a:gd name="connsiteY26" fmla="*/ 1113358 h 6858000"/>
              <a:gd name="connsiteX27" fmla="*/ 1515538 w 1983504"/>
              <a:gd name="connsiteY27" fmla="*/ 1220069 h 6858000"/>
              <a:gd name="connsiteX28" fmla="*/ 1440060 w 1983504"/>
              <a:gd name="connsiteY28" fmla="*/ 1209399 h 6858000"/>
              <a:gd name="connsiteX29" fmla="*/ 1373640 w 1983504"/>
              <a:gd name="connsiteY29" fmla="*/ 1230741 h 6858000"/>
              <a:gd name="connsiteX30" fmla="*/ 1400810 w 1983504"/>
              <a:gd name="connsiteY30" fmla="*/ 1365909 h 6858000"/>
              <a:gd name="connsiteX31" fmla="*/ 1748012 w 1983504"/>
              <a:gd name="connsiteY31" fmla="*/ 1540204 h 6858000"/>
              <a:gd name="connsiteX32" fmla="*/ 1778203 w 1983504"/>
              <a:gd name="connsiteY32" fmla="*/ 1597117 h 6858000"/>
              <a:gd name="connsiteX33" fmla="*/ 1735936 w 1983504"/>
              <a:gd name="connsiteY33" fmla="*/ 1636245 h 6858000"/>
              <a:gd name="connsiteX34" fmla="*/ 1624228 w 1983504"/>
              <a:gd name="connsiteY34" fmla="*/ 1657587 h 6858000"/>
              <a:gd name="connsiteX35" fmla="*/ 1781223 w 1983504"/>
              <a:gd name="connsiteY35" fmla="*/ 1849668 h 6858000"/>
              <a:gd name="connsiteX36" fmla="*/ 1838587 w 1983504"/>
              <a:gd name="connsiteY36" fmla="*/ 1903025 h 6858000"/>
              <a:gd name="connsiteX37" fmla="*/ 1938218 w 1983504"/>
              <a:gd name="connsiteY37" fmla="*/ 1984836 h 6858000"/>
              <a:gd name="connsiteX38" fmla="*/ 1938218 w 1983504"/>
              <a:gd name="connsiteY38" fmla="*/ 2013292 h 6858000"/>
              <a:gd name="connsiteX39" fmla="*/ 1805376 w 1983504"/>
              <a:gd name="connsiteY39" fmla="*/ 2102219 h 6858000"/>
              <a:gd name="connsiteX40" fmla="*/ 1563844 w 1983504"/>
              <a:gd name="connsiteY40" fmla="*/ 2077320 h 6858000"/>
              <a:gd name="connsiteX41" fmla="*/ 1920104 w 1983504"/>
              <a:gd name="connsiteY41" fmla="*/ 2208931 h 6858000"/>
              <a:gd name="connsiteX42" fmla="*/ 766792 w 1983504"/>
              <a:gd name="connsiteY42" fmla="*/ 1892353 h 6858000"/>
              <a:gd name="connsiteX43" fmla="*/ 839252 w 1983504"/>
              <a:gd name="connsiteY43" fmla="*/ 1974165 h 6858000"/>
              <a:gd name="connsiteX44" fmla="*/ 1243816 w 1983504"/>
              <a:gd name="connsiteY44" fmla="*/ 2191146 h 6858000"/>
              <a:gd name="connsiteX45" fmla="*/ 1358543 w 1983504"/>
              <a:gd name="connsiteY45" fmla="*/ 2326314 h 6858000"/>
              <a:gd name="connsiteX46" fmla="*/ 1479310 w 1983504"/>
              <a:gd name="connsiteY46" fmla="*/ 2401012 h 6858000"/>
              <a:gd name="connsiteX47" fmla="*/ 1648381 w 1983504"/>
              <a:gd name="connsiteY47" fmla="*/ 2401012 h 6858000"/>
              <a:gd name="connsiteX48" fmla="*/ 1769146 w 1983504"/>
              <a:gd name="connsiteY48" fmla="*/ 2518395 h 6858000"/>
              <a:gd name="connsiteX49" fmla="*/ 1645361 w 1983504"/>
              <a:gd name="connsiteY49" fmla="*/ 2543294 h 6858000"/>
              <a:gd name="connsiteX50" fmla="*/ 1500444 w 1983504"/>
              <a:gd name="connsiteY50" fmla="*/ 2525509 h 6858000"/>
              <a:gd name="connsiteX51" fmla="*/ 1337410 w 1983504"/>
              <a:gd name="connsiteY51" fmla="*/ 2564636 h 6858000"/>
              <a:gd name="connsiteX52" fmla="*/ 1186452 w 1983504"/>
              <a:gd name="connsiteY52" fmla="*/ 2532623 h 6858000"/>
              <a:gd name="connsiteX53" fmla="*/ 1005304 w 1983504"/>
              <a:gd name="connsiteY53" fmla="*/ 2553965 h 6858000"/>
              <a:gd name="connsiteX54" fmla="*/ 947940 w 1983504"/>
              <a:gd name="connsiteY54" fmla="*/ 2692689 h 6858000"/>
              <a:gd name="connsiteX55" fmla="*/ 929826 w 1983504"/>
              <a:gd name="connsiteY55" fmla="*/ 2703362 h 6858000"/>
              <a:gd name="connsiteX56" fmla="*/ 594701 w 1983504"/>
              <a:gd name="connsiteY56" fmla="*/ 2923898 h 6858000"/>
              <a:gd name="connsiteX57" fmla="*/ 501108 w 1983504"/>
              <a:gd name="connsiteY57" fmla="*/ 2941684 h 6858000"/>
              <a:gd name="connsiteX58" fmla="*/ 1053610 w 1983504"/>
              <a:gd name="connsiteY58" fmla="*/ 3329402 h 6858000"/>
              <a:gd name="connsiteX59" fmla="*/ 682256 w 1983504"/>
              <a:gd name="connsiteY59" fmla="*/ 3229805 h 6858000"/>
              <a:gd name="connsiteX60" fmla="*/ 630932 w 1983504"/>
              <a:gd name="connsiteY60" fmla="*/ 3393429 h 6858000"/>
              <a:gd name="connsiteX61" fmla="*/ 806041 w 1983504"/>
              <a:gd name="connsiteY61" fmla="*/ 3539269 h 6858000"/>
              <a:gd name="connsiteX62" fmla="*/ 869444 w 1983504"/>
              <a:gd name="connsiteY62" fmla="*/ 3827390 h 6858000"/>
              <a:gd name="connsiteX63" fmla="*/ 839252 w 1983504"/>
              <a:gd name="connsiteY63" fmla="*/ 4090612 h 6858000"/>
              <a:gd name="connsiteX64" fmla="*/ 763774 w 1983504"/>
              <a:gd name="connsiteY64" fmla="*/ 4172424 h 6858000"/>
              <a:gd name="connsiteX65" fmla="*/ 655085 w 1983504"/>
              <a:gd name="connsiteY65" fmla="*/ 4321821 h 6858000"/>
              <a:gd name="connsiteX66" fmla="*/ 588662 w 1983504"/>
              <a:gd name="connsiteY66" fmla="*/ 4414305 h 6858000"/>
              <a:gd name="connsiteX67" fmla="*/ 356189 w 1983504"/>
              <a:gd name="connsiteY67" fmla="*/ 4378734 h 6858000"/>
              <a:gd name="connsiteX68" fmla="*/ 667160 w 1983504"/>
              <a:gd name="connsiteY68" fmla="*/ 4613499 h 6858000"/>
              <a:gd name="connsiteX69" fmla="*/ 416573 w 1983504"/>
              <a:gd name="connsiteY69" fmla="*/ 4585042 h 6858000"/>
              <a:gd name="connsiteX70" fmla="*/ 335056 w 1983504"/>
              <a:gd name="connsiteY70" fmla="*/ 4602828 h 6858000"/>
              <a:gd name="connsiteX71" fmla="*/ 380342 w 1983504"/>
              <a:gd name="connsiteY71" fmla="*/ 4677526 h 6858000"/>
              <a:gd name="connsiteX72" fmla="*/ 564510 w 1983504"/>
              <a:gd name="connsiteY72" fmla="*/ 4805580 h 6858000"/>
              <a:gd name="connsiteX73" fmla="*/ 944922 w 1983504"/>
              <a:gd name="connsiteY73" fmla="*/ 5154171 h 6858000"/>
              <a:gd name="connsiteX74" fmla="*/ 576586 w 1983504"/>
              <a:gd name="connsiteY74" fmla="*/ 4994104 h 6858000"/>
              <a:gd name="connsiteX75" fmla="*/ 963036 w 1983504"/>
              <a:gd name="connsiteY75" fmla="*/ 5353367 h 6858000"/>
              <a:gd name="connsiteX76" fmla="*/ 1047572 w 1983504"/>
              <a:gd name="connsiteY76" fmla="*/ 5474306 h 6858000"/>
              <a:gd name="connsiteX77" fmla="*/ 1222682 w 1983504"/>
              <a:gd name="connsiteY77" fmla="*/ 5769542 h 6858000"/>
              <a:gd name="connsiteX78" fmla="*/ 1213626 w 1983504"/>
              <a:gd name="connsiteY78" fmla="*/ 5801555 h 6858000"/>
              <a:gd name="connsiteX79" fmla="*/ 1014361 w 1983504"/>
              <a:gd name="connsiteY79" fmla="*/ 5755314 h 6858000"/>
              <a:gd name="connsiteX80" fmla="*/ 1274008 w 1983504"/>
              <a:gd name="connsiteY80" fmla="*/ 6004307 h 6858000"/>
              <a:gd name="connsiteX81" fmla="*/ 1542711 w 1983504"/>
              <a:gd name="connsiteY81" fmla="*/ 6196388 h 6858000"/>
              <a:gd name="connsiteX82" fmla="*/ 1352504 w 1983504"/>
              <a:gd name="connsiteY82" fmla="*/ 6167932 h 6858000"/>
              <a:gd name="connsiteX83" fmla="*/ 1089840 w 1983504"/>
              <a:gd name="connsiteY83" fmla="*/ 6057663 h 6858000"/>
              <a:gd name="connsiteX84" fmla="*/ 999266 w 1983504"/>
              <a:gd name="connsiteY84" fmla="*/ 6100347 h 6858000"/>
              <a:gd name="connsiteX85" fmla="*/ 1246836 w 1983504"/>
              <a:gd name="connsiteY85" fmla="*/ 6281757 h 6858000"/>
              <a:gd name="connsiteX86" fmla="*/ 1388735 w 1983504"/>
              <a:gd name="connsiteY86" fmla="*/ 6367127 h 6858000"/>
              <a:gd name="connsiteX87" fmla="*/ 1446099 w 1983504"/>
              <a:gd name="connsiteY87" fmla="*/ 6431153 h 6858000"/>
              <a:gd name="connsiteX88" fmla="*/ 1609132 w 1983504"/>
              <a:gd name="connsiteY88" fmla="*/ 6658805 h 6858000"/>
              <a:gd name="connsiteX89" fmla="*/ 1983504 w 1983504"/>
              <a:gd name="connsiteY89" fmla="*/ 6858000 h 6858000"/>
              <a:gd name="connsiteX90" fmla="*/ 0 w 1983504"/>
              <a:gd name="connsiteY9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1983504" h="6858000">
                <a:moveTo>
                  <a:pt x="0" y="0"/>
                </a:moveTo>
                <a:lnTo>
                  <a:pt x="1376658" y="0"/>
                </a:lnTo>
                <a:cubicBezTo>
                  <a:pt x="1482328" y="35571"/>
                  <a:pt x="1584980" y="78255"/>
                  <a:pt x="1690650" y="110269"/>
                </a:cubicBezTo>
                <a:cubicBezTo>
                  <a:pt x="1675553" y="145839"/>
                  <a:pt x="1660458" y="138725"/>
                  <a:pt x="1645361" y="135168"/>
                </a:cubicBezTo>
                <a:cubicBezTo>
                  <a:pt x="1554788" y="120941"/>
                  <a:pt x="1461194" y="110269"/>
                  <a:pt x="1373640" y="71141"/>
                </a:cubicBezTo>
                <a:cubicBezTo>
                  <a:pt x="1352504" y="64027"/>
                  <a:pt x="1328352" y="64027"/>
                  <a:pt x="1319295" y="88927"/>
                </a:cubicBezTo>
                <a:cubicBezTo>
                  <a:pt x="1304199" y="124497"/>
                  <a:pt x="1325332" y="145839"/>
                  <a:pt x="1346468" y="163625"/>
                </a:cubicBezTo>
                <a:cubicBezTo>
                  <a:pt x="1382696" y="195638"/>
                  <a:pt x="1424964" y="188525"/>
                  <a:pt x="1464213" y="192082"/>
                </a:cubicBezTo>
                <a:cubicBezTo>
                  <a:pt x="1572902" y="209867"/>
                  <a:pt x="1624228" y="259665"/>
                  <a:pt x="1648381" y="373491"/>
                </a:cubicBezTo>
                <a:cubicBezTo>
                  <a:pt x="1554788" y="327250"/>
                  <a:pt x="1461194" y="384162"/>
                  <a:pt x="1370620" y="352148"/>
                </a:cubicBezTo>
                <a:cubicBezTo>
                  <a:pt x="1346468" y="345034"/>
                  <a:pt x="1310237" y="355706"/>
                  <a:pt x="1322314" y="394834"/>
                </a:cubicBezTo>
                <a:cubicBezTo>
                  <a:pt x="1334390" y="430405"/>
                  <a:pt x="1373640" y="458860"/>
                  <a:pt x="1304199" y="451747"/>
                </a:cubicBezTo>
                <a:cubicBezTo>
                  <a:pt x="1252873" y="448189"/>
                  <a:pt x="1237778" y="405504"/>
                  <a:pt x="1222682" y="359262"/>
                </a:cubicBezTo>
                <a:cubicBezTo>
                  <a:pt x="1210606" y="334364"/>
                  <a:pt x="1177395" y="320135"/>
                  <a:pt x="1153242" y="334364"/>
                </a:cubicBezTo>
                <a:cubicBezTo>
                  <a:pt x="1123051" y="348592"/>
                  <a:pt x="1132108" y="387720"/>
                  <a:pt x="1132108" y="416176"/>
                </a:cubicBezTo>
                <a:cubicBezTo>
                  <a:pt x="1129088" y="469532"/>
                  <a:pt x="1153242" y="494431"/>
                  <a:pt x="1195509" y="505101"/>
                </a:cubicBezTo>
                <a:cubicBezTo>
                  <a:pt x="1246836" y="519330"/>
                  <a:pt x="1298160" y="537116"/>
                  <a:pt x="1364582" y="558458"/>
                </a:cubicBezTo>
                <a:cubicBezTo>
                  <a:pt x="1292122" y="594028"/>
                  <a:pt x="1237778" y="586915"/>
                  <a:pt x="1183434" y="558458"/>
                </a:cubicBezTo>
                <a:cubicBezTo>
                  <a:pt x="1117012" y="526444"/>
                  <a:pt x="1029458" y="483759"/>
                  <a:pt x="975114" y="522887"/>
                </a:cubicBezTo>
                <a:cubicBezTo>
                  <a:pt x="893597" y="579800"/>
                  <a:pt x="827176" y="544229"/>
                  <a:pt x="754716" y="533558"/>
                </a:cubicBezTo>
                <a:cubicBezTo>
                  <a:pt x="603758" y="512216"/>
                  <a:pt x="697352" y="480203"/>
                  <a:pt x="546395" y="462417"/>
                </a:cubicBezTo>
                <a:cubicBezTo>
                  <a:pt x="486012" y="455303"/>
                  <a:pt x="422610" y="426847"/>
                  <a:pt x="335056" y="465975"/>
                </a:cubicBezTo>
                <a:cubicBezTo>
                  <a:pt x="730563" y="672284"/>
                  <a:pt x="917750" y="658055"/>
                  <a:pt x="1270988" y="910606"/>
                </a:cubicBezTo>
                <a:cubicBezTo>
                  <a:pt x="1255893" y="935506"/>
                  <a:pt x="1240798" y="924835"/>
                  <a:pt x="1225701" y="921277"/>
                </a:cubicBezTo>
                <a:cubicBezTo>
                  <a:pt x="1201548" y="917720"/>
                  <a:pt x="1171356" y="903491"/>
                  <a:pt x="1165318" y="949734"/>
                </a:cubicBezTo>
                <a:cubicBezTo>
                  <a:pt x="1162298" y="985305"/>
                  <a:pt x="1180415" y="1003089"/>
                  <a:pt x="1210606" y="1006647"/>
                </a:cubicBezTo>
                <a:cubicBezTo>
                  <a:pt x="1298160" y="1020875"/>
                  <a:pt x="1376658" y="1070674"/>
                  <a:pt x="1455156" y="1113358"/>
                </a:cubicBezTo>
                <a:cubicBezTo>
                  <a:pt x="1491385" y="1131144"/>
                  <a:pt x="1530634" y="1156043"/>
                  <a:pt x="1515538" y="1220069"/>
                </a:cubicBezTo>
                <a:cubicBezTo>
                  <a:pt x="1485348" y="1237855"/>
                  <a:pt x="1464213" y="1212955"/>
                  <a:pt x="1440060" y="1209399"/>
                </a:cubicBezTo>
                <a:cubicBezTo>
                  <a:pt x="1415907" y="1205842"/>
                  <a:pt x="1358543" y="1220069"/>
                  <a:pt x="1373640" y="1230741"/>
                </a:cubicBezTo>
                <a:cubicBezTo>
                  <a:pt x="1443080" y="1269868"/>
                  <a:pt x="1316276" y="1365909"/>
                  <a:pt x="1400810" y="1365909"/>
                </a:cubicBezTo>
                <a:cubicBezTo>
                  <a:pt x="1539691" y="1365909"/>
                  <a:pt x="1615170" y="1536647"/>
                  <a:pt x="1748012" y="1540204"/>
                </a:cubicBezTo>
                <a:cubicBezTo>
                  <a:pt x="1769146" y="1540204"/>
                  <a:pt x="1778203" y="1572219"/>
                  <a:pt x="1778203" y="1597117"/>
                </a:cubicBezTo>
                <a:cubicBezTo>
                  <a:pt x="1778203" y="1629132"/>
                  <a:pt x="1757070" y="1632688"/>
                  <a:pt x="1735936" y="1636245"/>
                </a:cubicBezTo>
                <a:cubicBezTo>
                  <a:pt x="1702725" y="1639802"/>
                  <a:pt x="1666496" y="1597117"/>
                  <a:pt x="1624228" y="1657587"/>
                </a:cubicBezTo>
                <a:cubicBezTo>
                  <a:pt x="1702725" y="1693158"/>
                  <a:pt x="1784242" y="1728729"/>
                  <a:pt x="1781223" y="1849668"/>
                </a:cubicBezTo>
                <a:cubicBezTo>
                  <a:pt x="1781223" y="1881683"/>
                  <a:pt x="1814434" y="1895910"/>
                  <a:pt x="1838587" y="1903025"/>
                </a:cubicBezTo>
                <a:cubicBezTo>
                  <a:pt x="1880854" y="1917252"/>
                  <a:pt x="1914065" y="1938595"/>
                  <a:pt x="1938218" y="1984836"/>
                </a:cubicBezTo>
                <a:cubicBezTo>
                  <a:pt x="1938218" y="1995507"/>
                  <a:pt x="1938218" y="2002622"/>
                  <a:pt x="1938218" y="2013292"/>
                </a:cubicBezTo>
                <a:cubicBezTo>
                  <a:pt x="1932180" y="2123562"/>
                  <a:pt x="1871798" y="2120004"/>
                  <a:pt x="1805376" y="2102219"/>
                </a:cubicBezTo>
                <a:cubicBezTo>
                  <a:pt x="1726878" y="2080877"/>
                  <a:pt x="1648381" y="2038192"/>
                  <a:pt x="1563844" y="2077320"/>
                </a:cubicBezTo>
                <a:cubicBezTo>
                  <a:pt x="1681592" y="2130676"/>
                  <a:pt x="1811414" y="2134233"/>
                  <a:pt x="1920104" y="2208931"/>
                </a:cubicBezTo>
                <a:cubicBezTo>
                  <a:pt x="1515538" y="2223159"/>
                  <a:pt x="1159280" y="1984836"/>
                  <a:pt x="766792" y="1892353"/>
                </a:cubicBezTo>
                <a:cubicBezTo>
                  <a:pt x="778869" y="1952823"/>
                  <a:pt x="812080" y="1967051"/>
                  <a:pt x="839252" y="1974165"/>
                </a:cubicBezTo>
                <a:cubicBezTo>
                  <a:pt x="984170" y="2020407"/>
                  <a:pt x="1110974" y="2112891"/>
                  <a:pt x="1243816" y="2191146"/>
                </a:cubicBezTo>
                <a:cubicBezTo>
                  <a:pt x="1298160" y="2223159"/>
                  <a:pt x="1337410" y="2258731"/>
                  <a:pt x="1358543" y="2326314"/>
                </a:cubicBezTo>
                <a:cubicBezTo>
                  <a:pt x="1376658" y="2390340"/>
                  <a:pt x="1412888" y="2418796"/>
                  <a:pt x="1479310" y="2401012"/>
                </a:cubicBezTo>
                <a:cubicBezTo>
                  <a:pt x="1533654" y="2386784"/>
                  <a:pt x="1591018" y="2393898"/>
                  <a:pt x="1648381" y="2401012"/>
                </a:cubicBezTo>
                <a:cubicBezTo>
                  <a:pt x="1711782" y="2408126"/>
                  <a:pt x="1784242" y="2479267"/>
                  <a:pt x="1769146" y="2518395"/>
                </a:cubicBezTo>
                <a:cubicBezTo>
                  <a:pt x="1738956" y="2582422"/>
                  <a:pt x="1687630" y="2550408"/>
                  <a:pt x="1645361" y="2543294"/>
                </a:cubicBezTo>
                <a:cubicBezTo>
                  <a:pt x="1594036" y="2536181"/>
                  <a:pt x="1500444" y="2518395"/>
                  <a:pt x="1500444" y="2525509"/>
                </a:cubicBezTo>
                <a:cubicBezTo>
                  <a:pt x="1467232" y="2685576"/>
                  <a:pt x="1391754" y="2564636"/>
                  <a:pt x="1337410" y="2564636"/>
                </a:cubicBezTo>
                <a:cubicBezTo>
                  <a:pt x="1286084" y="2564636"/>
                  <a:pt x="1234759" y="2546851"/>
                  <a:pt x="1186452" y="2532623"/>
                </a:cubicBezTo>
                <a:cubicBezTo>
                  <a:pt x="1123051" y="2514837"/>
                  <a:pt x="1065688" y="2546851"/>
                  <a:pt x="1005304" y="2553965"/>
                </a:cubicBezTo>
                <a:cubicBezTo>
                  <a:pt x="950960" y="2561080"/>
                  <a:pt x="981150" y="2653563"/>
                  <a:pt x="947940" y="2692689"/>
                </a:cubicBezTo>
                <a:cubicBezTo>
                  <a:pt x="941903" y="2703362"/>
                  <a:pt x="935864" y="2703362"/>
                  <a:pt x="929826" y="2703362"/>
                </a:cubicBezTo>
                <a:cubicBezTo>
                  <a:pt x="911711" y="2980812"/>
                  <a:pt x="594701" y="2913227"/>
                  <a:pt x="594701" y="2923898"/>
                </a:cubicBezTo>
                <a:cubicBezTo>
                  <a:pt x="567529" y="2941684"/>
                  <a:pt x="534318" y="2899000"/>
                  <a:pt x="501108" y="2941684"/>
                </a:cubicBezTo>
                <a:cubicBezTo>
                  <a:pt x="643007" y="3137322"/>
                  <a:pt x="860386" y="3183563"/>
                  <a:pt x="1053610" y="3329402"/>
                </a:cubicBezTo>
                <a:cubicBezTo>
                  <a:pt x="893597" y="3379202"/>
                  <a:pt x="800002" y="3208463"/>
                  <a:pt x="682256" y="3229805"/>
                </a:cubicBezTo>
                <a:cubicBezTo>
                  <a:pt x="624893" y="3283162"/>
                  <a:pt x="796984" y="3368530"/>
                  <a:pt x="630932" y="3393429"/>
                </a:cubicBezTo>
                <a:cubicBezTo>
                  <a:pt x="703390" y="3439672"/>
                  <a:pt x="754716" y="3485914"/>
                  <a:pt x="806041" y="3539269"/>
                </a:cubicBezTo>
                <a:cubicBezTo>
                  <a:pt x="893597" y="3635309"/>
                  <a:pt x="911711" y="3699337"/>
                  <a:pt x="869444" y="3827390"/>
                </a:cubicBezTo>
                <a:cubicBezTo>
                  <a:pt x="842270" y="3912759"/>
                  <a:pt x="803022" y="3991015"/>
                  <a:pt x="839252" y="4090612"/>
                </a:cubicBezTo>
                <a:cubicBezTo>
                  <a:pt x="863405" y="4158196"/>
                  <a:pt x="854347" y="4204438"/>
                  <a:pt x="763774" y="4172424"/>
                </a:cubicBezTo>
                <a:cubicBezTo>
                  <a:pt x="667160" y="4140411"/>
                  <a:pt x="630932" y="4200882"/>
                  <a:pt x="655085" y="4321821"/>
                </a:cubicBezTo>
                <a:cubicBezTo>
                  <a:pt x="670179" y="4400076"/>
                  <a:pt x="655085" y="4424975"/>
                  <a:pt x="588662" y="4414305"/>
                </a:cubicBezTo>
                <a:cubicBezTo>
                  <a:pt x="516204" y="4403633"/>
                  <a:pt x="446764" y="4353835"/>
                  <a:pt x="356189" y="4378734"/>
                </a:cubicBezTo>
                <a:cubicBezTo>
                  <a:pt x="428648" y="4521016"/>
                  <a:pt x="582626" y="4478331"/>
                  <a:pt x="667160" y="4613499"/>
                </a:cubicBezTo>
                <a:cubicBezTo>
                  <a:pt x="567529" y="4613499"/>
                  <a:pt x="489031" y="4613499"/>
                  <a:pt x="416573" y="4585042"/>
                </a:cubicBezTo>
                <a:cubicBezTo>
                  <a:pt x="386381" y="4574373"/>
                  <a:pt x="353170" y="4560144"/>
                  <a:pt x="335056" y="4602828"/>
                </a:cubicBezTo>
                <a:cubicBezTo>
                  <a:pt x="313920" y="4652628"/>
                  <a:pt x="356189" y="4670412"/>
                  <a:pt x="380342" y="4677526"/>
                </a:cubicBezTo>
                <a:cubicBezTo>
                  <a:pt x="449784" y="4702425"/>
                  <a:pt x="504126" y="4759339"/>
                  <a:pt x="564510" y="4805580"/>
                </a:cubicBezTo>
                <a:cubicBezTo>
                  <a:pt x="694332" y="4905177"/>
                  <a:pt x="836233" y="4990547"/>
                  <a:pt x="944922" y="5154171"/>
                </a:cubicBezTo>
                <a:cubicBezTo>
                  <a:pt x="809060" y="5111487"/>
                  <a:pt x="706410" y="5011889"/>
                  <a:pt x="576586" y="4994104"/>
                </a:cubicBezTo>
                <a:cubicBezTo>
                  <a:pt x="688296" y="5143500"/>
                  <a:pt x="830194" y="5243097"/>
                  <a:pt x="963036" y="5353367"/>
                </a:cubicBezTo>
                <a:cubicBezTo>
                  <a:pt x="1002286" y="5385379"/>
                  <a:pt x="1041534" y="5406721"/>
                  <a:pt x="1047572" y="5474306"/>
                </a:cubicBezTo>
                <a:cubicBezTo>
                  <a:pt x="1065688" y="5605917"/>
                  <a:pt x="1113992" y="5712629"/>
                  <a:pt x="1222682" y="5769542"/>
                </a:cubicBezTo>
                <a:cubicBezTo>
                  <a:pt x="1222682" y="5769542"/>
                  <a:pt x="1216644" y="5790884"/>
                  <a:pt x="1213626" y="5801555"/>
                </a:cubicBezTo>
                <a:cubicBezTo>
                  <a:pt x="1147203" y="5805112"/>
                  <a:pt x="1095878" y="5726858"/>
                  <a:pt x="1014361" y="5755314"/>
                </a:cubicBezTo>
                <a:cubicBezTo>
                  <a:pt x="1095878" y="5862025"/>
                  <a:pt x="1162298" y="5954508"/>
                  <a:pt x="1274008" y="6004307"/>
                </a:cubicBezTo>
                <a:cubicBezTo>
                  <a:pt x="1364582" y="6043434"/>
                  <a:pt x="1476290" y="6068335"/>
                  <a:pt x="1542711" y="6196388"/>
                </a:cubicBezTo>
                <a:cubicBezTo>
                  <a:pt x="1467232" y="6221287"/>
                  <a:pt x="1409868" y="6189274"/>
                  <a:pt x="1352504" y="6167932"/>
                </a:cubicBezTo>
                <a:cubicBezTo>
                  <a:pt x="1264950" y="6132361"/>
                  <a:pt x="1177395" y="6093234"/>
                  <a:pt x="1089840" y="6057663"/>
                </a:cubicBezTo>
                <a:cubicBezTo>
                  <a:pt x="1056628" y="6043434"/>
                  <a:pt x="1020400" y="6036320"/>
                  <a:pt x="999266" y="6100347"/>
                </a:cubicBezTo>
                <a:cubicBezTo>
                  <a:pt x="1110974" y="6114575"/>
                  <a:pt x="1177395" y="6199945"/>
                  <a:pt x="1246836" y="6281757"/>
                </a:cubicBezTo>
                <a:cubicBezTo>
                  <a:pt x="1286084" y="6327999"/>
                  <a:pt x="1319295" y="6388469"/>
                  <a:pt x="1388735" y="6367127"/>
                </a:cubicBezTo>
                <a:cubicBezTo>
                  <a:pt x="1424964" y="6356456"/>
                  <a:pt x="1449118" y="6388469"/>
                  <a:pt x="1446099" y="6431153"/>
                </a:cubicBezTo>
                <a:cubicBezTo>
                  <a:pt x="1431002" y="6580550"/>
                  <a:pt x="1518558" y="6630349"/>
                  <a:pt x="1609132" y="6658805"/>
                </a:cubicBezTo>
                <a:cubicBezTo>
                  <a:pt x="1741974" y="6701489"/>
                  <a:pt x="1859720" y="6786859"/>
                  <a:pt x="1983504" y="6858000"/>
                </a:cubicBez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D523CD1C-86D7-AAB8-E522-62EE0824BE28}"/>
              </a:ext>
            </a:extLst>
          </p:cNvPr>
          <p:cNvPicPr>
            <a:picLocks noChangeAspect="1"/>
          </p:cNvPicPr>
          <p:nvPr/>
        </p:nvPicPr>
        <p:blipFill>
          <a:blip r:embed="rId2"/>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42248DFE-E6D1-A441-5224-D79EA002EA5D}"/>
              </a:ext>
            </a:extLst>
          </p:cNvPr>
          <p:cNvPicPr>
            <a:picLocks noChangeAspect="1"/>
          </p:cNvPicPr>
          <p:nvPr/>
        </p:nvPicPr>
        <p:blipFill>
          <a:blip r:embed="rId2"/>
          <a:stretch>
            <a:fillRect/>
          </a:stretch>
        </p:blipFill>
        <p:spPr>
          <a:xfrm>
            <a:off x="10287237" y="0"/>
            <a:ext cx="1884443" cy="629920"/>
          </a:xfrm>
          <a:prstGeom prst="rect">
            <a:avLst/>
          </a:prstGeom>
        </p:spPr>
      </p:pic>
      <p:sp>
        <p:nvSpPr>
          <p:cNvPr id="5" name="TextBox 4">
            <a:extLst>
              <a:ext uri="{FF2B5EF4-FFF2-40B4-BE49-F238E27FC236}">
                <a16:creationId xmlns:a16="http://schemas.microsoft.com/office/drawing/2014/main" id="{1133BDA2-1D54-A97E-893A-450C7E1BDC9B}"/>
              </a:ext>
            </a:extLst>
          </p:cNvPr>
          <p:cNvSpPr txBox="1"/>
          <p:nvPr/>
        </p:nvSpPr>
        <p:spPr>
          <a:xfrm>
            <a:off x="3086010" y="445254"/>
            <a:ext cx="6098720" cy="461665"/>
          </a:xfrm>
          <a:prstGeom prst="rect">
            <a:avLst/>
          </a:prstGeom>
          <a:noFill/>
        </p:spPr>
        <p:txBody>
          <a:bodyPr wrap="square">
            <a:spAutoFit/>
          </a:bodyPr>
          <a:lstStyle/>
          <a:p>
            <a:pPr algn="ctr">
              <a:buNone/>
            </a:pPr>
            <a:r>
              <a:rPr lang="en-IN" sz="2400" b="1" i="0" dirty="0">
                <a:solidFill>
                  <a:srgbClr val="616161"/>
                </a:solidFill>
                <a:effectLst/>
                <a:latin typeface="ui-sans-serif"/>
              </a:rPr>
              <a:t>References</a:t>
            </a:r>
          </a:p>
        </p:txBody>
      </p:sp>
      <p:sp>
        <p:nvSpPr>
          <p:cNvPr id="8" name="TextBox 7">
            <a:extLst>
              <a:ext uri="{FF2B5EF4-FFF2-40B4-BE49-F238E27FC236}">
                <a16:creationId xmlns:a16="http://schemas.microsoft.com/office/drawing/2014/main" id="{D19EBBCA-B7C1-1029-B72D-4D6D644CFE4A}"/>
              </a:ext>
            </a:extLst>
          </p:cNvPr>
          <p:cNvSpPr txBox="1"/>
          <p:nvPr/>
        </p:nvSpPr>
        <p:spPr>
          <a:xfrm>
            <a:off x="837048" y="1363742"/>
            <a:ext cx="10972800" cy="3693319"/>
          </a:xfrm>
          <a:prstGeom prst="rect">
            <a:avLst/>
          </a:prstGeom>
          <a:noFill/>
        </p:spPr>
        <p:txBody>
          <a:bodyPr wrap="square">
            <a:spAutoFit/>
          </a:bodyPr>
          <a:lstStyle/>
          <a:p>
            <a:pPr algn="l">
              <a:buFont typeface="+mj-lt"/>
              <a:buAutoNum type="arabicPeriod"/>
            </a:pPr>
            <a:r>
              <a:rPr lang="en-IN" b="0" i="0" dirty="0">
                <a:solidFill>
                  <a:srgbClr val="616161"/>
                </a:solidFill>
                <a:effectLst/>
                <a:latin typeface="ui-sans-serif"/>
              </a:rPr>
              <a:t>Ganguly, S., Sadhukhan, S., Mandal, S., Sarkar, D., Das, S., &amp; Paul, S. (2024). </a:t>
            </a:r>
            <a:r>
              <a:rPr lang="en-IN" b="0" i="1" dirty="0" err="1">
                <a:solidFill>
                  <a:srgbClr val="616161"/>
                </a:solidFill>
                <a:effectLst/>
                <a:latin typeface="ui-sans-serif"/>
              </a:rPr>
              <a:t>WhisperSum</a:t>
            </a:r>
            <a:r>
              <a:rPr lang="en-IN" b="0" i="1" dirty="0">
                <a:solidFill>
                  <a:srgbClr val="616161"/>
                </a:solidFill>
                <a:effectLst/>
                <a:latin typeface="ui-sans-serif"/>
              </a:rPr>
              <a:t>: Unified Audio-to-Text Summarization</a:t>
            </a:r>
            <a:r>
              <a:rPr lang="en-IN" b="0" i="0" dirty="0">
                <a:solidFill>
                  <a:srgbClr val="616161"/>
                </a:solidFill>
                <a:effectLst/>
                <a:latin typeface="ui-sans-serif"/>
              </a:rPr>
              <a:t>. IEEE IACIS 2024. DOI: 10.1109/IACIS61494.2024.10721926</a:t>
            </a:r>
          </a:p>
          <a:p>
            <a:pPr algn="l">
              <a:buFont typeface="+mj-lt"/>
              <a:buAutoNum type="arabicPeriod"/>
            </a:pPr>
            <a:r>
              <a:rPr lang="en-IN" b="0" i="0" dirty="0">
                <a:solidFill>
                  <a:srgbClr val="616161"/>
                </a:solidFill>
                <a:effectLst/>
                <a:latin typeface="ui-sans-serif"/>
              </a:rPr>
              <a:t>Kirstein, F., Ruas, T., &amp; Gipp, B. (2024). </a:t>
            </a:r>
            <a:r>
              <a:rPr lang="en-IN" b="0" i="1" dirty="0">
                <a:solidFill>
                  <a:srgbClr val="616161"/>
                </a:solidFill>
                <a:effectLst/>
                <a:latin typeface="ui-sans-serif"/>
              </a:rPr>
              <a:t>What's Wrong? Refining Meeting Summaries with LLM Feedback</a:t>
            </a:r>
            <a:r>
              <a:rPr lang="en-IN" b="0" i="0" dirty="0">
                <a:solidFill>
                  <a:srgbClr val="616161"/>
                </a:solidFill>
                <a:effectLst/>
                <a:latin typeface="ui-sans-serif"/>
              </a:rPr>
              <a:t>. COLING 2025. arXiv:2407.11919</a:t>
            </a:r>
          </a:p>
          <a:p>
            <a:pPr algn="l">
              <a:buFont typeface="+mj-lt"/>
              <a:buAutoNum type="arabicPeriod"/>
            </a:pPr>
            <a:r>
              <a:rPr lang="en-IN" b="0" i="0" dirty="0">
                <a:solidFill>
                  <a:srgbClr val="616161"/>
                </a:solidFill>
                <a:effectLst/>
                <a:latin typeface="ui-sans-serif"/>
              </a:rPr>
              <a:t>Madaan, A., et al. (2023). </a:t>
            </a:r>
            <a:r>
              <a:rPr lang="en-IN" b="0" i="1" dirty="0">
                <a:solidFill>
                  <a:srgbClr val="616161"/>
                </a:solidFill>
                <a:effectLst/>
                <a:latin typeface="ui-sans-serif"/>
              </a:rPr>
              <a:t>Self-Refine: Iterative Refinement with Self-Feedback</a:t>
            </a:r>
            <a:r>
              <a:rPr lang="en-IN" b="0" i="0" dirty="0">
                <a:solidFill>
                  <a:srgbClr val="616161"/>
                </a:solidFill>
                <a:effectLst/>
                <a:latin typeface="ui-sans-serif"/>
              </a:rPr>
              <a:t>. </a:t>
            </a:r>
            <a:r>
              <a:rPr lang="en-IN" b="0" i="0" dirty="0" err="1">
                <a:solidFill>
                  <a:srgbClr val="616161"/>
                </a:solidFill>
                <a:effectLst/>
                <a:latin typeface="ui-sans-serif"/>
              </a:rPr>
              <a:t>NeurIPS</a:t>
            </a:r>
            <a:r>
              <a:rPr lang="en-IN" b="0" i="0" dirty="0">
                <a:solidFill>
                  <a:srgbClr val="616161"/>
                </a:solidFill>
                <a:effectLst/>
                <a:latin typeface="ui-sans-serif"/>
              </a:rPr>
              <a:t> 2023. arXiv:2303.17651</a:t>
            </a:r>
          </a:p>
          <a:p>
            <a:pPr algn="l">
              <a:buFont typeface="+mj-lt"/>
              <a:buAutoNum type="arabicPeriod"/>
            </a:pPr>
            <a:r>
              <a:rPr lang="en-IN" b="0" i="0" dirty="0">
                <a:solidFill>
                  <a:srgbClr val="616161"/>
                </a:solidFill>
                <a:effectLst/>
                <a:latin typeface="ui-sans-serif"/>
              </a:rPr>
              <a:t>Kirstein, F., Ruas, T., </a:t>
            </a:r>
            <a:r>
              <a:rPr lang="en-IN" b="0" i="0" dirty="0" err="1">
                <a:solidFill>
                  <a:srgbClr val="616161"/>
                </a:solidFill>
                <a:effectLst/>
                <a:latin typeface="ui-sans-serif"/>
              </a:rPr>
              <a:t>Kratel</a:t>
            </a:r>
            <a:r>
              <a:rPr lang="en-IN" b="0" i="0" dirty="0">
                <a:solidFill>
                  <a:srgbClr val="616161"/>
                </a:solidFill>
                <a:effectLst/>
                <a:latin typeface="ui-sans-serif"/>
              </a:rPr>
              <a:t>, R., &amp; Gipp, B. (2024). </a:t>
            </a:r>
            <a:r>
              <a:rPr lang="en-IN" b="0" i="1" dirty="0">
                <a:solidFill>
                  <a:srgbClr val="616161"/>
                </a:solidFill>
                <a:effectLst/>
                <a:latin typeface="ui-sans-serif"/>
              </a:rPr>
              <a:t>Tell Me What I Need to Know: LLM-based Personalized Meeting Summarization</a:t>
            </a:r>
            <a:r>
              <a:rPr lang="en-IN" b="0" i="0" dirty="0">
                <a:solidFill>
                  <a:srgbClr val="616161"/>
                </a:solidFill>
                <a:effectLst/>
                <a:latin typeface="ui-sans-serif"/>
              </a:rPr>
              <a:t>. EMNLP 2024 (Industry Track). arXiv:2410.14545</a:t>
            </a:r>
          </a:p>
          <a:p>
            <a:pPr algn="l">
              <a:buFont typeface="+mj-lt"/>
              <a:buAutoNum type="arabicPeriod"/>
            </a:pPr>
            <a:r>
              <a:rPr lang="en-IN" b="0" i="0" dirty="0">
                <a:solidFill>
                  <a:srgbClr val="616161"/>
                </a:solidFill>
                <a:effectLst/>
                <a:latin typeface="ui-sans-serif"/>
              </a:rPr>
              <a:t>Bano, S., et al. (2024). </a:t>
            </a:r>
            <a:r>
              <a:rPr lang="en-IN" b="0" i="1" dirty="0">
                <a:solidFill>
                  <a:srgbClr val="616161"/>
                </a:solidFill>
                <a:effectLst/>
                <a:latin typeface="ui-sans-serif"/>
              </a:rPr>
              <a:t>An End-to-End Speech Summarization Using Large Language Model</a:t>
            </a:r>
            <a:r>
              <a:rPr lang="en-IN" b="0" i="0" dirty="0">
                <a:solidFill>
                  <a:srgbClr val="616161"/>
                </a:solidFill>
                <a:effectLst/>
                <a:latin typeface="ui-sans-serif"/>
              </a:rPr>
              <a:t>. arXiv:2407.02005</a:t>
            </a:r>
          </a:p>
          <a:p>
            <a:pPr algn="l">
              <a:buFont typeface="+mj-lt"/>
              <a:buAutoNum type="arabicPeriod"/>
            </a:pPr>
            <a:r>
              <a:rPr lang="en-IN" b="0" i="0" dirty="0">
                <a:solidFill>
                  <a:srgbClr val="616161"/>
                </a:solidFill>
                <a:effectLst/>
                <a:latin typeface="ui-sans-serif"/>
              </a:rPr>
              <a:t>Radford, A., Kim, J. W., Xu, T., et al. (2023). </a:t>
            </a:r>
            <a:r>
              <a:rPr lang="en-IN" b="0" i="1" dirty="0">
                <a:solidFill>
                  <a:srgbClr val="616161"/>
                </a:solidFill>
                <a:effectLst/>
                <a:latin typeface="ui-sans-serif"/>
              </a:rPr>
              <a:t>Robust Speech Recognition via Large-Scale Weak Supervision (Whisper)</a:t>
            </a:r>
            <a:r>
              <a:rPr lang="en-IN" b="0" i="0" dirty="0">
                <a:solidFill>
                  <a:srgbClr val="616161"/>
                </a:solidFill>
                <a:effectLst/>
                <a:latin typeface="ui-sans-serif"/>
              </a:rPr>
              <a:t>. ICML 2023.</a:t>
            </a:r>
          </a:p>
          <a:p>
            <a:pPr algn="l">
              <a:buFont typeface="+mj-lt"/>
              <a:buAutoNum type="arabicPeriod"/>
            </a:pPr>
            <a:r>
              <a:rPr lang="en-IN" b="0" i="0" dirty="0">
                <a:solidFill>
                  <a:srgbClr val="616161"/>
                </a:solidFill>
                <a:effectLst/>
                <a:latin typeface="ui-sans-serif"/>
              </a:rPr>
              <a:t>Meta AI. (2024). </a:t>
            </a:r>
            <a:r>
              <a:rPr lang="en-IN" b="0" i="1" dirty="0">
                <a:solidFill>
                  <a:srgbClr val="616161"/>
                </a:solidFill>
                <a:effectLst/>
                <a:latin typeface="ui-sans-serif"/>
              </a:rPr>
              <a:t>Llama 3: Open Foundation and Fine-Tuned Chat Models</a:t>
            </a:r>
            <a:r>
              <a:rPr lang="en-IN" b="0" i="0" dirty="0">
                <a:solidFill>
                  <a:srgbClr val="616161"/>
                </a:solidFill>
                <a:effectLst/>
                <a:latin typeface="ui-sans-serif"/>
              </a:rPr>
              <a:t>. </a:t>
            </a:r>
            <a:r>
              <a:rPr lang="en-IN" b="0" i="0" dirty="0">
                <a:solidFill>
                  <a:srgbClr val="006AB1"/>
                </a:solidFill>
                <a:effectLst/>
                <a:latin typeface="ui-sans-serif"/>
                <a:hlinkClick r:id="rId3"/>
              </a:rPr>
              <a:t>https://ai.meta.com/llama</a:t>
            </a:r>
            <a:endParaRPr lang="en-IN" b="0" i="0" dirty="0">
              <a:solidFill>
                <a:srgbClr val="616161"/>
              </a:solidFill>
              <a:effectLst/>
              <a:latin typeface="ui-sans-serif"/>
            </a:endParaRPr>
          </a:p>
          <a:p>
            <a:pPr algn="l">
              <a:buFont typeface="+mj-lt"/>
              <a:buAutoNum type="arabicPeriod"/>
            </a:pPr>
            <a:r>
              <a:rPr lang="en-IN" b="0" i="0" dirty="0">
                <a:solidFill>
                  <a:srgbClr val="616161"/>
                </a:solidFill>
                <a:effectLst/>
                <a:latin typeface="ui-sans-serif"/>
              </a:rPr>
              <a:t>Live Application: </a:t>
            </a:r>
            <a:r>
              <a:rPr lang="en-IN" b="0" i="0" dirty="0">
                <a:solidFill>
                  <a:srgbClr val="006AB1"/>
                </a:solidFill>
                <a:effectLst/>
                <a:latin typeface="ui-sans-serif"/>
                <a:hlinkClick r:id="rId4"/>
              </a:rPr>
              <a:t>https://meetingai-2bqy.onrender.com</a:t>
            </a:r>
            <a:r>
              <a:rPr lang="en-IN" b="0" i="0" dirty="0">
                <a:solidFill>
                  <a:srgbClr val="616161"/>
                </a:solidFill>
                <a:effectLst/>
                <a:latin typeface="ui-sans-serif"/>
              </a:rPr>
              <a:t> Source Code: </a:t>
            </a:r>
            <a:r>
              <a:rPr lang="en-IN" b="0" i="0" dirty="0">
                <a:solidFill>
                  <a:srgbClr val="006AB1"/>
                </a:solidFill>
                <a:effectLst/>
                <a:latin typeface="ui-sans-serif"/>
                <a:hlinkClick r:id="rId5"/>
              </a:rPr>
              <a:t>https://github.com/Akagra12/FirstTranscriptapp</a:t>
            </a:r>
            <a:endParaRPr lang="en-IN" b="0" i="0" dirty="0">
              <a:solidFill>
                <a:srgbClr val="616161"/>
              </a:solidFill>
              <a:effectLst/>
              <a:latin typeface="ui-sans-serif"/>
            </a:endParaRPr>
          </a:p>
        </p:txBody>
      </p:sp>
    </p:spTree>
    <p:extLst>
      <p:ext uri="{BB962C8B-B14F-4D97-AF65-F5344CB8AC3E}">
        <p14:creationId xmlns:p14="http://schemas.microsoft.com/office/powerpoint/2010/main" val="1411905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31071F-7572-9C42-4284-E585A7D6BADD}"/>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2B777F8-E1A0-F12E-19CF-F2F52907F6FE}"/>
              </a:ext>
            </a:extLst>
          </p:cNvPr>
          <p:cNvSpPr txBox="1"/>
          <p:nvPr/>
        </p:nvSpPr>
        <p:spPr>
          <a:xfrm>
            <a:off x="804672" y="2421682"/>
            <a:ext cx="4977578" cy="363928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3600" b="1" i="0" dirty="0">
                <a:solidFill>
                  <a:schemeClr val="tx2"/>
                </a:solidFill>
                <a:effectLst/>
              </a:rPr>
              <a:t>Thank You</a:t>
            </a:r>
          </a:p>
        </p:txBody>
      </p:sp>
      <p:grpSp>
        <p:nvGrpSpPr>
          <p:cNvPr id="20" name="Group 19">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21" name="Freeform: Shape 20">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Graphic 12" descr="Smiling Face with No Fill">
            <a:extLst>
              <a:ext uri="{FF2B5EF4-FFF2-40B4-BE49-F238E27FC236}">
                <a16:creationId xmlns:a16="http://schemas.microsoft.com/office/drawing/2014/main" id="{15A6C002-9771-A403-78BB-0DA5C4DEEB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pic>
        <p:nvPicPr>
          <p:cNvPr id="2" name="Picture 1">
            <a:extLst>
              <a:ext uri="{FF2B5EF4-FFF2-40B4-BE49-F238E27FC236}">
                <a16:creationId xmlns:a16="http://schemas.microsoft.com/office/drawing/2014/main" id="{D3CC564C-0C20-0BCD-C536-D2CC06A2FA64}"/>
              </a:ext>
            </a:extLst>
          </p:cNvPr>
          <p:cNvPicPr>
            <a:picLocks noChangeAspect="1"/>
          </p:cNvPicPr>
          <p:nvPr/>
        </p:nvPicPr>
        <p:blipFill>
          <a:blip r:embed="rId3"/>
          <a:stretch>
            <a:fillRect/>
          </a:stretch>
        </p:blipFill>
        <p:spPr>
          <a:xfrm>
            <a:off x="88710" y="6239933"/>
            <a:ext cx="1572020" cy="526627"/>
          </a:xfrm>
          <a:prstGeom prst="rect">
            <a:avLst/>
          </a:prstGeom>
        </p:spPr>
      </p:pic>
      <p:pic>
        <p:nvPicPr>
          <p:cNvPr id="3" name="Picture 2">
            <a:extLst>
              <a:ext uri="{FF2B5EF4-FFF2-40B4-BE49-F238E27FC236}">
                <a16:creationId xmlns:a16="http://schemas.microsoft.com/office/drawing/2014/main" id="{2C00D47F-542A-E471-F95F-2C65A6ACAB4A}"/>
              </a:ext>
            </a:extLst>
          </p:cNvPr>
          <p:cNvPicPr>
            <a:picLocks noChangeAspect="1"/>
          </p:cNvPicPr>
          <p:nvPr/>
        </p:nvPicPr>
        <p:blipFill>
          <a:blip r:embed="rId3"/>
          <a:stretch>
            <a:fillRect/>
          </a:stretch>
        </p:blipFill>
        <p:spPr>
          <a:xfrm>
            <a:off x="10287237" y="0"/>
            <a:ext cx="1884443" cy="629920"/>
          </a:xfrm>
          <a:prstGeom prst="rect">
            <a:avLst/>
          </a:prstGeom>
        </p:spPr>
      </p:pic>
    </p:spTree>
    <p:extLst>
      <p:ext uri="{BB962C8B-B14F-4D97-AF65-F5344CB8AC3E}">
        <p14:creationId xmlns:p14="http://schemas.microsoft.com/office/powerpoint/2010/main" val="8276275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TotalTime>
  <Words>1849</Words>
  <Application>Microsoft Office PowerPoint</Application>
  <PresentationFormat>Widescreen</PresentationFormat>
  <Paragraphs>121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Akagra Gangwar</dc:creator>
  <cp:lastModifiedBy>Akagra Gangwar</cp:lastModifiedBy>
  <cp:revision>1</cp:revision>
  <dcterms:created xsi:type="dcterms:W3CDTF">2026-04-21T15:48:24Z</dcterms:created>
  <dcterms:modified xsi:type="dcterms:W3CDTF">2026-04-21T16:42:24Z</dcterms:modified>
</cp:coreProperties>
</file>